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4" r:id="rId25"/>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718bf4d-3ce7-a81a-55dc-9db4ae37eb9b}">
          <p14:sldIdLst>
            <p14:sldId id="256"/>
            <p14:sldId id="257"/>
            <p14:sldId id="258"/>
            <p14:sldId id="259"/>
          </p14:sldIdLst>
        </p14:section>
        <p14:section name="Build and ship" id="{dbda82a8-b437-f151-f54f-64d6d8e20af3}">
          <p14:sldIdLst>
            <p14:sldId id="260"/>
            <p14:sldId id="261"/>
            <p14:sldId id="262"/>
            <p14:sldId id="263"/>
            <p14:sldId id="264"/>
            <p14:sldId id="265"/>
            <p14:sldId id="274"/>
          </p14:sldIdLst>
        </p14:section>
        <p14:section name="Infrastructure and runtime" id="{78cfe018-5433-16d0-b51c-b7f525af8985}">
          <p14:sldIdLst>
            <p14:sldId id="266"/>
            <p14:sldId id="267"/>
            <p14:sldId id="268"/>
            <p14:sldId id="269"/>
            <p14:sldId id="270"/>
          </p14:sldIdLst>
        </p14:section>
        <p14:section name="Delivery and wrap-up" id="{13c87d91-5cc4-843f-328a-75b5bef27496}">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Kavya, and this is my DevOps capstone, DataDrift. DataDrift is a registry for machine-learning training datasets. The application is intentionally small: the focus of the project is the DevOps pipeline around it — tests, Docker, CI/CD with a security scan, Terraform for AWS, Kubernetes with Helm, and monitoring with Prometheus and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a dataset is refreshed, we register the new snapshot with its version tag, record count, missing-value percentage and a drift score between zero and one. The drift score says how far the data has moved from the last verified version. Anything at or above 0.30 is flagged drift detected and blocked from training until someone reviews it. Here a snapshot registered at 0.31 was flagged automatically and appears in the training gate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architecture. When I push to GitHub, GitHub Actions runs the tests, builds both Docker images, scans them with Trivy and pushes them to the GitHub Container Registry, tagged with the commit SHA. Helm deploys those images into Kubernetes: kind on my laptop, or EKS on AWS, which Terraform describes. The Ingress sends slash to the React frontend and slash api to the FastAPI backend, which stores data in PostgreSQL. Prometheus scrapes the backend's metrics every 15 seconds, and Grafana shows the dashboard and the drift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project maps onto the ten rubric modules. I'll walk through them in this order, and finish with the live change through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FastAPI with SQLAlchemy. It has a REST API with GET, POST, PUT and DELETE on /api/datasets, plus /health for liveness, /ready for readiness, which checks the database, and /metrics for Prometheus. The data lives in PostgreSQL 16 and the schema is managed by an Alembic migration. Because Kubernetes runs two backend replicas, the migration takes a Postgres advisory lock so they never migrate at the same time. DELETE archives a snapshot by default and purge=true removes it permanently.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is built, the code has to pass two gates: ruff for linting and formatting, and pytest. There are 14 tests covering every endpoint: validation errors, duplicate versions returning 409, automatic drift flagging, archive versus purge, and the metrics output. The tests never touch the real database: conftest.py points the app at a temporary SQLite file and recreates the tables for every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is public on GitHub. I committed after each step with a message that says what changed, so the history reads like the build log of the project. The .gitignore keeps secrets and build output out of Git: env files, virtual environments, node_modules, kubeconfigs, and Terraform state and variable files. No credentials are in the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Locally the whole stack runs with one command, docker compose up --build: Postgres, backend and frontend. The backend waits until Postgres is healthy and runs the Alembic migration before it starts. Both containers run as non-root users: uid 10001 for the backend and uid 101 for Nginx. The frontend Dockerfile is a multi-stage build: the first stage uses Node to build the React app, and the final image only contains Nginx and the static files, so no build tools ship to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GitHub Actions pipeline. It runs on every push and pull request to main. Three jobs run in parallel: backend lint and tests, the frontend build, and validation of the Terraform and Helm code. Only if all three pass do we build the images. The build job runs once for the backend and once for the frontend: build, Trivy scan, then push to the GitHub Container Registry. The images are tagged with the full Git commit SHA, never latest. The last job deploys with Helm when a cluster is configured through a kubeconfig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scans container images for known vulnerabilities in OS packages and language libraries. When I first scanned the frontend, the Nginx base image had 43 HIGH CVEs in its Alpine packages. One example is CVE-2026-33630, a use-after-free bug in c-ares, the DNS library that curl uses. Fixed versions existed, so I added apk upgrade to the Dockerfile. The backend had HIGH CVEs in libraries bundled inside pip, such as urllib3, and in setuptools. The application never uses pip at runtime, so the Dockerfile removes them. Now both images scan clean. In the pipeline Trivy runs with exit code 1 on fixable HIGH or CRITICAL findings, so a vulnerable image can never be pushed.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AWS infrastructure is Terraform code. vpc.tf creates a VPC with two public and two private subnets across two availability zones, an internet gateway, a NAT gateway and route tables. iam.tf creates the roles, and eks.tf creates the EKS cluster, a managed node group of two to four t3.medium nodes in the private subnets, and the EBS and metrics-server add-ons. An EKS cluster and NAT gateway cost money every hour, so for this demo I run the plan in offline mode with dummy credentials. Terraform shows exactly what it would create: 25 resources. With a real account it's terraform apply, then aws eks update-kubeconfig, and terraform destroy when finished. No credentials are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Locally I use a kind cluster; the same Helm chart deploys to EKS with the production values file. One script installs the platform pieces: the ingress-nginx controller, metrics-server and the kube-prometheus-stack. The Helm release creates two backend pods and two frontend pods, Postgres as a StatefulSet with a persistent volume, ClusterIP services, and an Ingress that sends /api to the backend and everything else to the frontend. The backend has readiness and liveness probes, runs as non-root with a read-only filesystem, and waits for Postgres before starting. Here are all pods Running, the services, the Ingress host, the HPA and the Helm release, and the app through the Ingress hostname.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Prometheus metrics at /metrics: request counts and latencies, plus business metrics such as the drift score of every snapshot and the number of snapshots per status. A ServiceMonitor in the Helm chart tells Prometheus to scrape every backend pod; both targets are UP. The Grafana dashboard is installed by the Helm chart as well, through a ConfigMap that the Grafana sidecar loads. It shows the drift alert state, the average drift gauge, the drift score of each snapshot, request rate, p95 latency, errors, CPU and replicas.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part. I flag drift on a dataset in the UI. That sends a PUT request to the API, and the badge turns red immediately. Prometheus scrapes the new state within 15 seconds and evaluates the alert rule. The DatasetDriftDetected alert fires, labelled with the exact dataset and version, and in Grafana the alert panel turns red and the status chart steps up. In a real team this alert would page the data engineer before anyone trains a model on bad data. Once it's reviewed and marked verified, the alert resolves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HorizontalPodAutoscaler adds backend pods when average CPU goes above 60 percent of the request. During the load test CPU reached 98 percent and the HPA scaled from two to four pods. At 52 percent with four pods it stays at four, because four times 52 over 60 still rounds up to four. When the load stops, it waits for its five-minute stabilization window and then scales back to two, so a short dip in traffic doesn't remove pods that would be needed again seconds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full loop. I change the version badge in the UI from 1.0.0 to 1.1.0, commit and push. The pipeline starts automatically: tests, build, scan and push, all green. Then I deploy the exact images CI built for this commit with deploy-local --ghcr and the commit SHA. Helm does a rolling update with no downtime, because maxUnavailable is zero. The pods now run the image tagged with the new commit SHA, and the dashboard shows version 1.1.0. If anything went wrong, helm rollback returns to the previous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things that didn't work the first time. Trivy failed my first build: a brand-new nginx base image had 43 HIGH CVEs, fixed by upgrading packages in the Dockerfile. With two backend replicas, both tried to run the database migration at startup; an advisory lock in Alembic fixed the race. The autoscaler didn't scale down at 52 percent CPU, which taught me how the replica formula and the stabilization window work. And to show Terraform without an AWS bill, I added an offline plan mode, and the CI deploy job only runs when a cluster secret is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DataDrift goes from a commit to a tested, scanned, versioned image in a registry, deployed to Kubernetes with Helm on infrastructure defined in Terraform, and monitored with Prometheus and Grafana, with an alert that fires when a dataset drifts. If I took this further, I would move Postgres to Amazon RDS, add Argo CD so the cluster pulls deployments automatically, and send the drift alert to Slack through Alertmanager.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evidence from a real pipeline run. On the left is the Trivy step inside the backend build job: it pulls Trivy 0.75, downloads the latest vulnerability database, and scans the Debian packages, the Python libraries and any secrets in the image. The step passed, so there were no fixable HIGH or CRITICAL CVEs. Only then does the job log in to the GitHub Container Registry with the workflow's built-in GITHUB_TOKEN, shown on the right, and push the image tagged with the commit SHA. If Trivy had found a problem, the job would have stopped before the push.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600200"/>
            <a:ext cx="6035040" cy="365760"/>
          </a:xfrm>
          <a:prstGeom prst="rect">
            <a:avLst/>
          </a:prstGeom>
          <a:noFill/>
          <a:ln/>
        </p:spPr>
        <p:txBody>
          <a:bodyPr wrap="square" rtlCol="0"/>
          <a:lstStyle>
            <a:lvl1pPr indent="0" marL="0">
              <a:buNone/>
              <a:defRPr lang="en-US" sz="1400" b="1" spc="200" kern="0" dirty="0">
                <a:solidFill>
                  <a:schemeClr val="accent5"/>
                </a:solidFill>
              </a:defRPr>
            </a:lvl1pPr>
          </a:lstStyle>
          <a:p>
            <a:pPr indent="0" marL="0">
              <a:buNone/>
            </a:pPr>
            <a:endParaRPr lang="en-US" sz="1400" dirty="0"/>
          </a:p>
        </p:txBody>
      </p:sp>
      <p:sp>
        <p:nvSpPr>
          <p:cNvPr id="3" name="Text 0"/>
          <p:cNvSpPr/>
          <p:nvPr>
            <p:ph idx="101" type="title" hasCustomPrompt="1"/>
          </p:nvPr>
        </p:nvSpPr>
        <p:spPr>
          <a:xfrm>
            <a:off x="640080" y="2011680"/>
            <a:ext cx="603504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4" name="Text 0"/>
          <p:cNvSpPr/>
          <p:nvPr>
            <p:ph idx="102" type="body" hasCustomPrompt="1"/>
          </p:nvPr>
        </p:nvSpPr>
        <p:spPr>
          <a:xfrm>
            <a:off x="640080" y="3246120"/>
            <a:ext cx="5852160" cy="100584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DataDrift · DevOps Capstone</a:t>
            </a:r>
            <a:endParaRPr lang="en-US" sz="10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600200"/>
            <a:ext cx="6035040" cy="365760"/>
          </a:xfrm>
          <a:prstGeom prst="rect">
            <a:avLst/>
          </a:prstGeom>
          <a:noFill/>
          <a:ln/>
        </p:spPr>
        <p:txBody>
          <a:bodyPr wrap="square" lIns="0" tIns="0" rIns="0" bIns="0" rtlCol="0"/>
          <a:lstStyle/>
          <a:p>
            <a:pPr indent="0" marL="0">
              <a:buNone/>
            </a:pPr>
            <a:r>
              <a:rPr lang="en-US" sz="1400" b="1" spc="200" kern="0" dirty="0">
                <a:solidFill>
                  <a:schemeClr val="accent5"/>
                </a:solidFill>
              </a:rPr>
              <a:t>DEVOPS CAPSTONE PROJECT</a:t>
            </a:r>
            <a:endParaRPr lang="en-US" sz="1400" dirty="0"/>
          </a:p>
        </p:txBody>
      </p:sp>
      <p:sp>
        <p:nvSpPr>
          <p:cNvPr id="3" name="Text 0"/>
          <p:cNvSpPr/>
          <p:nvPr>
            <p:ph idx="101" type="title" hasCustomPrompt="1"/>
          </p:nvPr>
        </p:nvSpPr>
        <p:spPr>
          <a:xfrm>
            <a:off x="640080" y="2011680"/>
            <a:ext cx="6035040" cy="1188720"/>
          </a:xfrm>
          <a:prstGeom prst="rect">
            <a:avLst/>
          </a:prstGeom>
          <a:noFill/>
          <a:ln/>
        </p:spPr>
        <p:txBody>
          <a:bodyPr wrap="square" lIns="0" tIns="0" rIns="0" bIns="0" rtlCol="0" anchor="t"/>
          <a:lstStyle/>
          <a:p>
            <a:pPr algn="l" indent="0" marL="0">
              <a:buNone/>
            </a:pPr>
            <a:r>
              <a:rPr lang="en-US" sz="6000" b="1" dirty="0">
                <a:solidFill>
                  <a:schemeClr val="bg1"/>
                </a:solidFill>
              </a:rPr>
              <a:t>DataDrift</a:t>
            </a:r>
            <a:endParaRPr lang="en-US" sz="6000" dirty="0"/>
          </a:p>
        </p:txBody>
      </p:sp>
      <p:sp>
        <p:nvSpPr>
          <p:cNvPr id="4" name="Text 0"/>
          <p:cNvSpPr/>
          <p:nvPr>
            <p:ph idx="102" type="body" hasCustomPrompt="1"/>
          </p:nvPr>
        </p:nvSpPr>
        <p:spPr>
          <a:xfrm>
            <a:off x="640080" y="3246120"/>
            <a:ext cx="5852160" cy="1005840"/>
          </a:xfrm>
          <a:prstGeom prst="rect">
            <a:avLst/>
          </a:prstGeom>
          <a:noFill/>
          <a:ln/>
        </p:spPr>
        <p:txBody>
          <a:bodyPr wrap="square" lIns="0" tIns="0" rIns="0" bIns="0" rtlCol="0" anchor="t"/>
          <a:lstStyle/>
          <a:p>
            <a:pPr indent="0" marL="0">
              <a:buNone/>
            </a:pPr>
            <a:r>
              <a:rPr lang="en-US" sz="2200" dirty="0">
                <a:solidFill>
                  <a:schemeClr val="bg2"/>
                </a:solidFill>
              </a:rPr>
              <a:t>Dataset version &amp; schema quality monitor</a:t>
            </a:r>
            <a:endParaRPr lang="en-US" sz="2200" dirty="0"/>
          </a:p>
        </p:txBody>
      </p:sp>
      <p:sp>
        <p:nvSpPr>
          <p:cNvPr id="5" name="Text 3"/>
          <p:cNvSpPr txBox="1"/>
          <p:nvPr/>
        </p:nvSpPr>
        <p:spPr>
          <a:xfrm>
            <a:off x="640080" y="4800600"/>
            <a:ext cx="5852160" cy="731520"/>
          </a:xfrm>
          <a:prstGeom prst="rect">
            <a:avLst/>
          </a:prstGeom>
          <a:noFill/>
          <a:ln/>
        </p:spPr>
        <p:txBody>
          <a:bodyPr wrap="square" lIns="0" tIns="0" rIns="0" bIns="0" rtlCol="0" anchor="t"/>
          <a:lstStyle/>
          <a:p>
            <a:pPr indent="0" marL="0">
              <a:buNone/>
            </a:pPr>
            <a:r>
              <a:rPr lang="en-US" sz="1800" b="1" dirty="0">
                <a:solidFill>
                  <a:schemeClr val="bg1"/>
                </a:solidFill>
              </a:rPr>
              <a:t>Kavya Dhyani</a:t>
            </a:r>
            <a:endParaRPr lang="en-US" sz="1800" dirty="0"/>
          </a:p>
          <a:p>
            <a:pPr indent="0" marL="0">
              <a:buNone/>
            </a:pPr>
            <a:r>
              <a:rPr lang="en-US" sz="1600" dirty="0">
                <a:solidFill>
                  <a:schemeClr val="accent5"/>
                </a:solidFill>
              </a:rPr>
              <a:t>github.com/KavyaDhyani/datadrift-capstone</a:t>
            </a:r>
            <a:endParaRPr lang="en-US" sz="1800" dirty="0"/>
          </a:p>
        </p:txBody>
      </p:sp>
      <p:sp>
        <p:nvSpPr>
          <p:cNvPr id="6" name="card 03-ui-dashboard.png"/>
          <p:cNvSpPr/>
          <p:nvPr/>
        </p:nvSpPr>
        <p:spPr>
          <a:xfrm>
            <a:off x="6903720" y="1691640"/>
            <a:ext cx="4800600" cy="2921329"/>
          </a:xfrm>
          <a:prstGeom prst="roundRect">
            <a:avLst>
              <a:gd name="adj" fmla="val 2504"/>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7" name="03-ui-dashboard.png" descr="03-ui-dashboard.png">    </p:cNvPr>
          <p:cNvPicPr>
            <a:picLocks noChangeAspect="1"/>
          </p:cNvPicPr>
          <p:nvPr/>
        </p:nvPicPr>
        <p:blipFill>
          <a:blip r:embed="rId1"/>
          <a:stretch>
            <a:fillRect/>
          </a:stretch>
        </p:blipFill>
        <p:spPr>
          <a:xfrm>
            <a:off x="6967728" y="1755648"/>
            <a:ext cx="4672584" cy="27933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THE APPLICATION</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Know your data before you train on it</a:t>
            </a:r>
            <a:endParaRPr lang="en-US" sz="3400" dirty="0"/>
          </a:p>
        </p:txBody>
      </p:sp>
      <p:sp>
        <p:nvSpPr>
          <p:cNvPr id="4" name="icon circle Register every snapshot"/>
          <p:cNvSpPr/>
          <p:nvPr/>
        </p:nvSpPr>
        <p:spPr>
          <a:xfrm>
            <a:off x="548640" y="1691640"/>
            <a:ext cx="512064" cy="512064"/>
          </a:xfrm>
          <a:prstGeom prst="ellipse">
            <a:avLst/>
          </a:prstGeom>
          <a:solidFill>
            <a:schemeClr val="accent1"/>
          </a:solidFill>
          <a:ln w="12700">
            <a:solidFill>
              <a:schemeClr val="accent1"/>
            </a:solidFill>
            <a:prstDash val="solid"/>
          </a:ln>
        </p:spPr>
      </p:sp>
      <p:pic>
        <p:nvPicPr>
          <p:cNvPr id="5" name="icon Register every snapshot" descr="preencoded.png">    </p:cNvPr>
          <p:cNvPicPr>
            <a:picLocks noChangeAspect="1"/>
          </p:cNvPicPr>
          <p:nvPr/>
        </p:nvPicPr>
        <p:blipFill>
          <a:blip r:embed="rId1"/>
          <a:stretch>
            <a:fillRect/>
          </a:stretch>
        </p:blipFill>
        <p:spPr>
          <a:xfrm>
            <a:off x="676656" y="1819656"/>
            <a:ext cx="256032" cy="256032"/>
          </a:xfrm>
          <a:prstGeom prst="rect">
            <a:avLst/>
          </a:prstGeom>
        </p:spPr>
      </p:pic>
      <p:sp>
        <p:nvSpPr>
          <p:cNvPr id="6" name="Text 3"/>
          <p:cNvSpPr txBox="1"/>
          <p:nvPr/>
        </p:nvSpPr>
        <p:spPr>
          <a:xfrm>
            <a:off x="1261872" y="1673352"/>
            <a:ext cx="4224528" cy="329184"/>
          </a:xfrm>
          <a:prstGeom prst="rect">
            <a:avLst/>
          </a:prstGeom>
          <a:noFill/>
          <a:ln/>
        </p:spPr>
        <p:txBody>
          <a:bodyPr wrap="square" lIns="0" tIns="0" rIns="0" bIns="0" rtlCol="0" anchor="t"/>
          <a:lstStyle/>
          <a:p>
            <a:pPr indent="0" marL="0">
              <a:buNone/>
            </a:pPr>
            <a:r>
              <a:rPr lang="en-US" sz="1700" b="1" dirty="0">
                <a:solidFill>
                  <a:schemeClr val="tx1"/>
                </a:solidFill>
              </a:rPr>
              <a:t>Register every snapshot</a:t>
            </a:r>
            <a:endParaRPr lang="en-US" sz="1700" dirty="0"/>
          </a:p>
        </p:txBody>
      </p:sp>
      <p:sp>
        <p:nvSpPr>
          <p:cNvPr id="7" name="Text 4"/>
          <p:cNvSpPr txBox="1"/>
          <p:nvPr/>
        </p:nvSpPr>
        <p:spPr>
          <a:xfrm>
            <a:off x="1261872" y="2020824"/>
            <a:ext cx="4224528" cy="749808"/>
          </a:xfrm>
          <a:prstGeom prst="rect">
            <a:avLst/>
          </a:prstGeom>
          <a:noFill/>
          <a:ln/>
        </p:spPr>
        <p:txBody>
          <a:bodyPr wrap="square" lIns="0" tIns="0" rIns="0" bIns="0" rtlCol="0" anchor="t"/>
          <a:lstStyle/>
          <a:p>
            <a:pPr indent="0" marL="0">
              <a:buNone/>
            </a:pPr>
            <a:r>
              <a:rPr lang="en-US" sz="1400" dirty="0">
                <a:solidFill>
                  <a:schemeClr val="tx2"/>
                </a:solidFill>
              </a:rPr>
              <a:t>Each dataset refresh is stored with its version tag, record count, missing values and a drift score from 0 to 1.</a:t>
            </a:r>
            <a:endParaRPr lang="en-US" sz="1400" dirty="0"/>
          </a:p>
        </p:txBody>
      </p:sp>
      <p:sp>
        <p:nvSpPr>
          <p:cNvPr id="8" name="icon circle Gate drifted data"/>
          <p:cNvSpPr/>
          <p:nvPr/>
        </p:nvSpPr>
        <p:spPr>
          <a:xfrm>
            <a:off x="548640" y="2971800"/>
            <a:ext cx="512064" cy="512064"/>
          </a:xfrm>
          <a:prstGeom prst="ellipse">
            <a:avLst/>
          </a:prstGeom>
          <a:solidFill>
            <a:schemeClr val="accent2"/>
          </a:solidFill>
          <a:ln w="12700">
            <a:solidFill>
              <a:schemeClr val="accent2"/>
            </a:solidFill>
            <a:prstDash val="solid"/>
          </a:ln>
        </p:spPr>
      </p:sp>
      <p:pic>
        <p:nvPicPr>
          <p:cNvPr id="9" name="icon Gate drifted data" descr="preencoded.png">    </p:cNvPr>
          <p:cNvPicPr>
            <a:picLocks noChangeAspect="1"/>
          </p:cNvPicPr>
          <p:nvPr/>
        </p:nvPicPr>
        <p:blipFill>
          <a:blip r:embed="rId2"/>
          <a:stretch>
            <a:fillRect/>
          </a:stretch>
        </p:blipFill>
        <p:spPr>
          <a:xfrm>
            <a:off x="676656" y="3099816"/>
            <a:ext cx="256032" cy="256032"/>
          </a:xfrm>
          <a:prstGeom prst="rect">
            <a:avLst/>
          </a:prstGeom>
        </p:spPr>
      </p:pic>
      <p:sp>
        <p:nvSpPr>
          <p:cNvPr id="10" name="Text 6"/>
          <p:cNvSpPr txBox="1"/>
          <p:nvPr/>
        </p:nvSpPr>
        <p:spPr>
          <a:xfrm>
            <a:off x="1261872" y="2953512"/>
            <a:ext cx="4224528" cy="329184"/>
          </a:xfrm>
          <a:prstGeom prst="rect">
            <a:avLst/>
          </a:prstGeom>
          <a:noFill/>
          <a:ln/>
        </p:spPr>
        <p:txBody>
          <a:bodyPr wrap="square" lIns="0" tIns="0" rIns="0" bIns="0" rtlCol="0" anchor="t"/>
          <a:lstStyle/>
          <a:p>
            <a:pPr indent="0" marL="0">
              <a:buNone/>
            </a:pPr>
            <a:r>
              <a:rPr lang="en-US" sz="1700" b="1" dirty="0">
                <a:solidFill>
                  <a:schemeClr val="tx1"/>
                </a:solidFill>
              </a:rPr>
              <a:t>Gate drifted data</a:t>
            </a:r>
            <a:endParaRPr lang="en-US" sz="1700" dirty="0"/>
          </a:p>
        </p:txBody>
      </p:sp>
      <p:sp>
        <p:nvSpPr>
          <p:cNvPr id="11" name="Text 7"/>
          <p:cNvSpPr txBox="1"/>
          <p:nvPr/>
        </p:nvSpPr>
        <p:spPr>
          <a:xfrm>
            <a:off x="1261872" y="3300984"/>
            <a:ext cx="4224528" cy="749808"/>
          </a:xfrm>
          <a:prstGeom prst="rect">
            <a:avLst/>
          </a:prstGeom>
          <a:noFill/>
          <a:ln/>
        </p:spPr>
        <p:txBody>
          <a:bodyPr wrap="square" lIns="0" tIns="0" rIns="0" bIns="0" rtlCol="0" anchor="t"/>
          <a:lstStyle/>
          <a:p>
            <a:pPr indent="0" marL="0">
              <a:buNone/>
            </a:pPr>
            <a:r>
              <a:rPr lang="en-US" sz="1400" dirty="0">
                <a:solidFill>
                  <a:schemeClr val="tx2"/>
                </a:solidFill>
              </a:rPr>
              <a:t>A score of 0.30 or more marks the snapshot DRIFT_DETECTED and blocks it from training until reviewed.</a:t>
            </a:r>
            <a:endParaRPr lang="en-US" sz="1400" dirty="0"/>
          </a:p>
        </p:txBody>
      </p:sp>
      <p:sp>
        <p:nvSpPr>
          <p:cNvPr id="12" name="icon circle Alert the team"/>
          <p:cNvSpPr/>
          <p:nvPr/>
        </p:nvSpPr>
        <p:spPr>
          <a:xfrm>
            <a:off x="548640" y="4251960"/>
            <a:ext cx="512064" cy="512064"/>
          </a:xfrm>
          <a:prstGeom prst="ellipse">
            <a:avLst/>
          </a:prstGeom>
          <a:solidFill>
            <a:schemeClr val="accent4"/>
          </a:solidFill>
          <a:ln w="12700">
            <a:solidFill>
              <a:schemeClr val="accent4"/>
            </a:solidFill>
            <a:prstDash val="solid"/>
          </a:ln>
        </p:spPr>
      </p:sp>
      <p:pic>
        <p:nvPicPr>
          <p:cNvPr id="13" name="icon Alert the team" descr="preencoded.png">    </p:cNvPr>
          <p:cNvPicPr>
            <a:picLocks noChangeAspect="1"/>
          </p:cNvPicPr>
          <p:nvPr/>
        </p:nvPicPr>
        <p:blipFill>
          <a:blip r:embed="rId3"/>
          <a:stretch>
            <a:fillRect/>
          </a:stretch>
        </p:blipFill>
        <p:spPr>
          <a:xfrm>
            <a:off x="676656" y="4379976"/>
            <a:ext cx="256032" cy="256032"/>
          </a:xfrm>
          <a:prstGeom prst="rect">
            <a:avLst/>
          </a:prstGeom>
        </p:spPr>
      </p:pic>
      <p:sp>
        <p:nvSpPr>
          <p:cNvPr id="14" name="Text 9"/>
          <p:cNvSpPr txBox="1"/>
          <p:nvPr/>
        </p:nvSpPr>
        <p:spPr>
          <a:xfrm>
            <a:off x="1261872" y="4233672"/>
            <a:ext cx="4224528" cy="329184"/>
          </a:xfrm>
          <a:prstGeom prst="rect">
            <a:avLst/>
          </a:prstGeom>
          <a:noFill/>
          <a:ln/>
        </p:spPr>
        <p:txBody>
          <a:bodyPr wrap="square" lIns="0" tIns="0" rIns="0" bIns="0" rtlCol="0" anchor="t"/>
          <a:lstStyle/>
          <a:p>
            <a:pPr indent="0" marL="0">
              <a:buNone/>
            </a:pPr>
            <a:r>
              <a:rPr lang="en-US" sz="1700" b="1" dirty="0">
                <a:solidFill>
                  <a:schemeClr val="tx1"/>
                </a:solidFill>
              </a:rPr>
              <a:t>Alert the team</a:t>
            </a:r>
            <a:endParaRPr lang="en-US" sz="1700" dirty="0"/>
          </a:p>
        </p:txBody>
      </p:sp>
      <p:sp>
        <p:nvSpPr>
          <p:cNvPr id="15" name="Text 10"/>
          <p:cNvSpPr txBox="1"/>
          <p:nvPr/>
        </p:nvSpPr>
        <p:spPr>
          <a:xfrm>
            <a:off x="1261872" y="4581144"/>
            <a:ext cx="4224528" cy="749808"/>
          </a:xfrm>
          <a:prstGeom prst="rect">
            <a:avLst/>
          </a:prstGeom>
          <a:noFill/>
          <a:ln/>
        </p:spPr>
        <p:txBody>
          <a:bodyPr wrap="square" lIns="0" tIns="0" rIns="0" bIns="0" rtlCol="0" anchor="t"/>
          <a:lstStyle/>
          <a:p>
            <a:pPr indent="0" marL="0">
              <a:buNone/>
            </a:pPr>
            <a:r>
              <a:rPr lang="en-US" sz="1400" dirty="0">
                <a:solidFill>
                  <a:schemeClr val="tx2"/>
                </a:solidFill>
              </a:rPr>
              <a:t>Flag drift in the UI and a Prometheus alert fires; Grafana turns red within about 30 seconds.</a:t>
            </a:r>
            <a:endParaRPr lang="en-US" sz="1400" dirty="0"/>
          </a:p>
        </p:txBody>
      </p:sp>
      <p:sp>
        <p:nvSpPr>
          <p:cNvPr id="16" name="chip 0 – 0.15 stable"/>
          <p:cNvSpPr/>
          <p:nvPr/>
        </p:nvSpPr>
        <p:spPr>
          <a:xfrm>
            <a:off x="548640" y="5596128"/>
            <a:ext cx="1554480" cy="384048"/>
          </a:xfrm>
          <a:prstGeom prst="roundRect">
            <a:avLst>
              <a:gd name="adj" fmla="val 50000"/>
            </a:avLst>
          </a:prstGeom>
          <a:solidFill>
            <a:schemeClr val="accent3">
              <a:alpha val="14000"/>
            </a:schemeClr>
          </a:solidFill>
          <a:ln w="9525">
            <a:solidFill>
              <a:schemeClr val="accent3"/>
            </a:solidFill>
            <a:prstDash val="solid"/>
          </a:ln>
        </p:spPr>
      </p:sp>
      <p:sp>
        <p:nvSpPr>
          <p:cNvPr id="17" name="Text 12"/>
          <p:cNvSpPr txBox="1"/>
          <p:nvPr/>
        </p:nvSpPr>
        <p:spPr>
          <a:xfrm>
            <a:off x="548640" y="5596128"/>
            <a:ext cx="1554480" cy="384048"/>
          </a:xfrm>
          <a:prstGeom prst="rect">
            <a:avLst/>
          </a:prstGeom>
          <a:noFill/>
          <a:ln/>
        </p:spPr>
        <p:txBody>
          <a:bodyPr wrap="square" lIns="0" tIns="0" rIns="0" bIns="0" rtlCol="0" anchor="ctr"/>
          <a:lstStyle/>
          <a:p>
            <a:pPr algn="ctr" indent="0" marL="0">
              <a:buNone/>
            </a:pPr>
            <a:r>
              <a:rPr lang="en-US" sz="1300" b="1" dirty="0">
                <a:solidFill>
                  <a:schemeClr val="accent3"/>
                </a:solidFill>
              </a:rPr>
              <a:t>0 – 0.15 stable</a:t>
            </a:r>
            <a:endParaRPr lang="en-US" sz="1300" dirty="0"/>
          </a:p>
        </p:txBody>
      </p:sp>
      <p:sp>
        <p:nvSpPr>
          <p:cNvPr id="18" name="chip 0.15 – 0.30 watch"/>
          <p:cNvSpPr/>
          <p:nvPr/>
        </p:nvSpPr>
        <p:spPr>
          <a:xfrm>
            <a:off x="2240280" y="5596128"/>
            <a:ext cx="1600200" cy="384048"/>
          </a:xfrm>
          <a:prstGeom prst="roundRect">
            <a:avLst>
              <a:gd name="adj" fmla="val 50000"/>
            </a:avLst>
          </a:prstGeom>
          <a:solidFill>
            <a:schemeClr val="accent4">
              <a:alpha val="14000"/>
            </a:schemeClr>
          </a:solidFill>
          <a:ln w="9525">
            <a:solidFill>
              <a:schemeClr val="accent4"/>
            </a:solidFill>
            <a:prstDash val="solid"/>
          </a:ln>
        </p:spPr>
      </p:sp>
      <p:sp>
        <p:nvSpPr>
          <p:cNvPr id="19" name="Text 14"/>
          <p:cNvSpPr txBox="1"/>
          <p:nvPr/>
        </p:nvSpPr>
        <p:spPr>
          <a:xfrm>
            <a:off x="2240280" y="5596128"/>
            <a:ext cx="1600200" cy="384048"/>
          </a:xfrm>
          <a:prstGeom prst="rect">
            <a:avLst/>
          </a:prstGeom>
          <a:noFill/>
          <a:ln/>
        </p:spPr>
        <p:txBody>
          <a:bodyPr wrap="square" lIns="0" tIns="0" rIns="0" bIns="0" rtlCol="0" anchor="ctr"/>
          <a:lstStyle/>
          <a:p>
            <a:pPr algn="ctr" indent="0" marL="0">
              <a:buNone/>
            </a:pPr>
            <a:r>
              <a:rPr lang="en-US" sz="1300" b="1" dirty="0">
                <a:solidFill>
                  <a:schemeClr val="accent4"/>
                </a:solidFill>
              </a:rPr>
              <a:t>0.15 – 0.30 watch</a:t>
            </a:r>
            <a:endParaRPr lang="en-US" sz="1300" dirty="0"/>
          </a:p>
        </p:txBody>
      </p:sp>
      <p:sp>
        <p:nvSpPr>
          <p:cNvPr id="20" name="chip ≥ 0.30 drift"/>
          <p:cNvSpPr/>
          <p:nvPr/>
        </p:nvSpPr>
        <p:spPr>
          <a:xfrm>
            <a:off x="3977640" y="5596128"/>
            <a:ext cx="1325880" cy="384048"/>
          </a:xfrm>
          <a:prstGeom prst="roundRect">
            <a:avLst>
              <a:gd name="adj" fmla="val 50000"/>
            </a:avLst>
          </a:prstGeom>
          <a:solidFill>
            <a:schemeClr val="accent2">
              <a:alpha val="14000"/>
            </a:schemeClr>
          </a:solidFill>
          <a:ln w="9525">
            <a:solidFill>
              <a:schemeClr val="accent2"/>
            </a:solidFill>
            <a:prstDash val="solid"/>
          </a:ln>
        </p:spPr>
      </p:sp>
      <p:sp>
        <p:nvSpPr>
          <p:cNvPr id="21" name="Text 16"/>
          <p:cNvSpPr txBox="1"/>
          <p:nvPr/>
        </p:nvSpPr>
        <p:spPr>
          <a:xfrm>
            <a:off x="3977640" y="5596128"/>
            <a:ext cx="1325880" cy="384048"/>
          </a:xfrm>
          <a:prstGeom prst="rect">
            <a:avLst/>
          </a:prstGeom>
          <a:noFill/>
          <a:ln/>
        </p:spPr>
        <p:txBody>
          <a:bodyPr wrap="square" lIns="0" tIns="0" rIns="0" bIns="0" rtlCol="0" anchor="ctr"/>
          <a:lstStyle/>
          <a:p>
            <a:pPr algn="ctr" indent="0" marL="0">
              <a:buNone/>
            </a:pPr>
            <a:r>
              <a:rPr lang="en-US" sz="1300" b="1" dirty="0">
                <a:solidFill>
                  <a:schemeClr val="accent2"/>
                </a:solidFill>
              </a:rPr>
              <a:t>≥ 0.30 drift</a:t>
            </a:r>
            <a:endParaRPr lang="en-US" sz="1300" dirty="0"/>
          </a:p>
        </p:txBody>
      </p:sp>
      <p:sp>
        <p:nvSpPr>
          <p:cNvPr id="22" name="card 05-ui-drift-detected.png"/>
          <p:cNvSpPr/>
          <p:nvPr/>
        </p:nvSpPr>
        <p:spPr>
          <a:xfrm>
            <a:off x="5760720" y="1600200"/>
            <a:ext cx="5879592" cy="3587362"/>
          </a:xfrm>
          <a:prstGeom prst="roundRect">
            <a:avLst>
              <a:gd name="adj" fmla="val 203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3" name="05-ui-drift-detected.png" descr="A snapshot registered at drift 0.31 is flagged and blocked automatically">    </p:cNvPr>
          <p:cNvPicPr>
            <a:picLocks noChangeAspect="1"/>
          </p:cNvPicPr>
          <p:nvPr/>
        </p:nvPicPr>
        <p:blipFill>
          <a:blip r:embed="rId4"/>
          <a:stretch>
            <a:fillRect/>
          </a:stretch>
        </p:blipFill>
        <p:spPr>
          <a:xfrm>
            <a:off x="5824728" y="1664208"/>
            <a:ext cx="5751576" cy="3459346"/>
          </a:xfrm>
          <a:prstGeom prst="rect">
            <a:avLst/>
          </a:prstGeom>
        </p:spPr>
      </p:pic>
      <p:sp>
        <p:nvSpPr>
          <p:cNvPr id="24" name="caption 05-ui-drift-detected.png"/>
          <p:cNvSpPr txBox="1"/>
          <p:nvPr/>
        </p:nvSpPr>
        <p:spPr>
          <a:xfrm>
            <a:off x="5760720" y="5242426"/>
            <a:ext cx="5879592" cy="256032"/>
          </a:xfrm>
          <a:prstGeom prst="rect">
            <a:avLst/>
          </a:prstGeom>
          <a:noFill/>
          <a:ln/>
        </p:spPr>
        <p:txBody>
          <a:bodyPr wrap="square" lIns="0" tIns="0" rIns="0" bIns="0" rtlCol="0" anchor="ctr"/>
          <a:lstStyle/>
          <a:p>
            <a:pPr algn="ctr" indent="0" marL="0">
              <a:buNone/>
            </a:pPr>
            <a:r>
              <a:rPr lang="en-US" sz="1100" i="1" dirty="0">
                <a:solidFill>
                  <a:schemeClr val="accent6"/>
                </a:solidFill>
              </a:rPr>
              <a:t>A snapshot registered at drift 0.31 is flagged and blocked automatically</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ARCHITECTURE</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From git push to a monitored cluster</a:t>
            </a:r>
            <a:endParaRPr lang="en-US" sz="3400" dirty="0"/>
          </a:p>
        </p:txBody>
      </p:sp>
      <p:sp>
        <p:nvSpPr>
          <p:cNvPr id="4" name="pipeline Developer"/>
          <p:cNvSpPr/>
          <p:nvPr/>
        </p:nvSpPr>
        <p:spPr>
          <a:xfrm>
            <a:off x="548640" y="1600200"/>
            <a:ext cx="1920240" cy="914400"/>
          </a:xfrm>
          <a:prstGeom prst="roundRect">
            <a:avLst>
              <a:gd name="adj" fmla="val 10000"/>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5" name="Text 3"/>
          <p:cNvSpPr txBox="1"/>
          <p:nvPr/>
        </p:nvSpPr>
        <p:spPr>
          <a:xfrm>
            <a:off x="640080" y="1600200"/>
            <a:ext cx="1737360" cy="914400"/>
          </a:xfrm>
          <a:prstGeom prst="rect">
            <a:avLst/>
          </a:prstGeom>
          <a:noFill/>
          <a:ln/>
        </p:spPr>
        <p:txBody>
          <a:bodyPr wrap="square" lIns="0" tIns="0" rIns="0" bIns="0" rtlCol="0" anchor="ctr"/>
          <a:lstStyle/>
          <a:p>
            <a:pPr algn="ctr" indent="0" marL="0">
              <a:buNone/>
            </a:pPr>
            <a:r>
              <a:rPr lang="en-US" sz="1500" b="1" dirty="0">
                <a:solidFill>
                  <a:schemeClr val="bg1"/>
                </a:solidFill>
              </a:rPr>
              <a:t>Developer</a:t>
            </a:r>
            <a:endParaRPr lang="en-US" sz="1500" dirty="0"/>
          </a:p>
          <a:p>
            <a:pPr algn="ctr" indent="0" marL="0">
              <a:buNone/>
            </a:pPr>
            <a:r>
              <a:rPr lang="en-US" sz="1200" dirty="0">
                <a:solidFill>
                  <a:schemeClr val="bg1"/>
                </a:solidFill>
              </a:rPr>
              <a:t>git push to main</a:t>
            </a:r>
            <a:endParaRPr lang="en-US" sz="1500" dirty="0"/>
          </a:p>
        </p:txBody>
      </p:sp>
      <p:sp>
        <p:nvSpPr>
          <p:cNvPr id="6" name="pipeline GitHub Actions"/>
          <p:cNvSpPr/>
          <p:nvPr/>
        </p:nvSpPr>
        <p:spPr>
          <a:xfrm>
            <a:off x="2834640" y="1600200"/>
            <a:ext cx="1920240" cy="914400"/>
          </a:xfrm>
          <a:prstGeom prst="roundRect">
            <a:avLst>
              <a:gd name="adj" fmla="val 10000"/>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7" name="Text 5"/>
          <p:cNvSpPr txBox="1"/>
          <p:nvPr/>
        </p:nvSpPr>
        <p:spPr>
          <a:xfrm>
            <a:off x="2926080" y="1600200"/>
            <a:ext cx="1737360" cy="914400"/>
          </a:xfrm>
          <a:prstGeom prst="rect">
            <a:avLst/>
          </a:prstGeom>
          <a:noFill/>
          <a:ln/>
        </p:spPr>
        <p:txBody>
          <a:bodyPr wrap="square" lIns="0" tIns="0" rIns="0" bIns="0" rtlCol="0" anchor="ctr"/>
          <a:lstStyle/>
          <a:p>
            <a:pPr algn="ctr" indent="0" marL="0">
              <a:buNone/>
            </a:pPr>
            <a:r>
              <a:rPr lang="en-US" sz="1500" b="1" dirty="0">
                <a:solidFill>
                  <a:schemeClr val="bg1"/>
                </a:solidFill>
              </a:rPr>
              <a:t>GitHub Actions</a:t>
            </a:r>
            <a:endParaRPr lang="en-US" sz="1500" dirty="0"/>
          </a:p>
          <a:p>
            <a:pPr algn="ctr" indent="0" marL="0">
              <a:buNone/>
            </a:pPr>
            <a:r>
              <a:rPr lang="en-US" sz="1200" dirty="0">
                <a:solidFill>
                  <a:schemeClr val="bg1"/>
                </a:solidFill>
              </a:rPr>
              <a:t>ruff · pytest · build</a:t>
            </a:r>
            <a:endParaRPr lang="en-US" sz="1500" dirty="0"/>
          </a:p>
        </p:txBody>
      </p:sp>
      <p:sp>
        <p:nvSpPr>
          <p:cNvPr id="8" name="pipeline Trivy scan"/>
          <p:cNvSpPr/>
          <p:nvPr/>
        </p:nvSpPr>
        <p:spPr>
          <a:xfrm>
            <a:off x="5120640" y="1600200"/>
            <a:ext cx="1920240" cy="914400"/>
          </a:xfrm>
          <a:prstGeom prst="roundRect">
            <a:avLst>
              <a:gd name="adj" fmla="val 10000"/>
            </a:avLst>
          </a:prstGeom>
          <a:solidFill>
            <a:schemeClr val="accent2"/>
          </a:solidFill>
          <a:ln w="12700">
            <a:solidFill>
              <a:schemeClr val="accent2"/>
            </a:solidFill>
            <a:prstDash val="solid"/>
          </a:ln>
          <a:effectLst>
            <a:outerShdw sx="100000" sy="100000" kx="0" ky="0" algn="bl" rotWithShape="0" blurRad="127000" dist="38100" dir="5400000">
              <a:srgbClr val="1E1B4B">
                <a:alpha val="18000"/>
              </a:srgbClr>
            </a:outerShdw>
          </a:effectLst>
        </p:spPr>
      </p:sp>
      <p:sp>
        <p:nvSpPr>
          <p:cNvPr id="9" name="Text 7"/>
          <p:cNvSpPr txBox="1"/>
          <p:nvPr/>
        </p:nvSpPr>
        <p:spPr>
          <a:xfrm>
            <a:off x="5212080" y="1600200"/>
            <a:ext cx="1737360" cy="914400"/>
          </a:xfrm>
          <a:prstGeom prst="rect">
            <a:avLst/>
          </a:prstGeom>
          <a:noFill/>
          <a:ln/>
        </p:spPr>
        <p:txBody>
          <a:bodyPr wrap="square" lIns="0" tIns="0" rIns="0" bIns="0" rtlCol="0" anchor="ctr"/>
          <a:lstStyle/>
          <a:p>
            <a:pPr algn="ctr" indent="0" marL="0">
              <a:buNone/>
            </a:pPr>
            <a:r>
              <a:rPr lang="en-US" sz="1500" b="1" dirty="0">
                <a:solidFill>
                  <a:schemeClr val="bg1"/>
                </a:solidFill>
              </a:rPr>
              <a:t>Trivy scan</a:t>
            </a:r>
            <a:endParaRPr lang="en-US" sz="1500" dirty="0"/>
          </a:p>
          <a:p>
            <a:pPr algn="ctr" indent="0" marL="0">
              <a:buNone/>
            </a:pPr>
            <a:r>
              <a:rPr lang="en-US" sz="1200" dirty="0">
                <a:solidFill>
                  <a:schemeClr val="bg1"/>
                </a:solidFill>
              </a:rPr>
              <a:t>fail on HIGH / CRITICAL</a:t>
            </a:r>
            <a:endParaRPr lang="en-US" sz="1500" dirty="0"/>
          </a:p>
        </p:txBody>
      </p:sp>
      <p:sp>
        <p:nvSpPr>
          <p:cNvPr id="10" name="pipeline GHCR"/>
          <p:cNvSpPr/>
          <p:nvPr/>
        </p:nvSpPr>
        <p:spPr>
          <a:xfrm>
            <a:off x="7406640" y="1600200"/>
            <a:ext cx="1920240" cy="914400"/>
          </a:xfrm>
          <a:prstGeom prst="roundRect">
            <a:avLst>
              <a:gd name="adj" fmla="val 10000"/>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11" name="Text 9"/>
          <p:cNvSpPr txBox="1"/>
          <p:nvPr/>
        </p:nvSpPr>
        <p:spPr>
          <a:xfrm>
            <a:off x="7498080" y="1600200"/>
            <a:ext cx="1737360" cy="914400"/>
          </a:xfrm>
          <a:prstGeom prst="rect">
            <a:avLst/>
          </a:prstGeom>
          <a:noFill/>
          <a:ln/>
        </p:spPr>
        <p:txBody>
          <a:bodyPr wrap="square" lIns="0" tIns="0" rIns="0" bIns="0" rtlCol="0" anchor="ctr"/>
          <a:lstStyle/>
          <a:p>
            <a:pPr algn="ctr" indent="0" marL="0">
              <a:buNone/>
            </a:pPr>
            <a:r>
              <a:rPr lang="en-US" sz="1500" b="1" dirty="0">
                <a:solidFill>
                  <a:schemeClr val="bg1"/>
                </a:solidFill>
              </a:rPr>
              <a:t>GHCR</a:t>
            </a:r>
            <a:endParaRPr lang="en-US" sz="1500" dirty="0"/>
          </a:p>
          <a:p>
            <a:pPr algn="ctr" indent="0" marL="0">
              <a:buNone/>
            </a:pPr>
            <a:r>
              <a:rPr lang="en-US" sz="1200" dirty="0">
                <a:solidFill>
                  <a:schemeClr val="bg1"/>
                </a:solidFill>
              </a:rPr>
              <a:t>image : &lt;commit-sha&gt;</a:t>
            </a:r>
            <a:endParaRPr lang="en-US" sz="1500" dirty="0"/>
          </a:p>
        </p:txBody>
      </p:sp>
      <p:sp>
        <p:nvSpPr>
          <p:cNvPr id="12" name="pipeline Helm"/>
          <p:cNvSpPr/>
          <p:nvPr/>
        </p:nvSpPr>
        <p:spPr>
          <a:xfrm>
            <a:off x="9692640" y="1600200"/>
            <a:ext cx="1920240" cy="914400"/>
          </a:xfrm>
          <a:prstGeom prst="roundRect">
            <a:avLst>
              <a:gd name="adj" fmla="val 10000"/>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13" name="Text 11"/>
          <p:cNvSpPr txBox="1"/>
          <p:nvPr/>
        </p:nvSpPr>
        <p:spPr>
          <a:xfrm>
            <a:off x="9784080" y="1600200"/>
            <a:ext cx="1737360" cy="914400"/>
          </a:xfrm>
          <a:prstGeom prst="rect">
            <a:avLst/>
          </a:prstGeom>
          <a:noFill/>
          <a:ln/>
        </p:spPr>
        <p:txBody>
          <a:bodyPr wrap="square" lIns="0" tIns="0" rIns="0" bIns="0" rtlCol="0" anchor="ctr"/>
          <a:lstStyle/>
          <a:p>
            <a:pPr algn="ctr" indent="0" marL="0">
              <a:buNone/>
            </a:pPr>
            <a:r>
              <a:rPr lang="en-US" sz="1500" b="1" dirty="0">
                <a:solidFill>
                  <a:schemeClr val="bg1"/>
                </a:solidFill>
              </a:rPr>
              <a:t>Helm</a:t>
            </a:r>
            <a:endParaRPr lang="en-US" sz="1500" dirty="0"/>
          </a:p>
          <a:p>
            <a:pPr algn="ctr" indent="0" marL="0">
              <a:buNone/>
            </a:pPr>
            <a:r>
              <a:rPr lang="en-US" sz="1200" dirty="0">
                <a:solidFill>
                  <a:schemeClr val="bg1"/>
                </a:solidFill>
              </a:rPr>
              <a:t>upgrade --install</a:t>
            </a:r>
            <a:endParaRPr lang="en-US" sz="1500" dirty="0"/>
          </a:p>
        </p:txBody>
      </p:sp>
      <p:sp>
        <p:nvSpPr>
          <p:cNvPr id="14" name="pipeline arrow 0"/>
          <p:cNvSpPr/>
          <p:nvPr/>
        </p:nvSpPr>
        <p:spPr>
          <a:xfrm>
            <a:off x="2505456" y="2057400"/>
            <a:ext cx="292608" cy="0"/>
          </a:xfrm>
          <a:prstGeom prst="line">
            <a:avLst/>
          </a:prstGeom>
          <a:noFill/>
          <a:ln w="22225">
            <a:solidFill>
              <a:srgbClr val="64748B"/>
            </a:solidFill>
            <a:prstDash val="solid"/>
            <a:tailEnd type="triangle"/>
          </a:ln>
        </p:spPr>
      </p:sp>
      <p:sp>
        <p:nvSpPr>
          <p:cNvPr id="15" name="pipeline arrow 1"/>
          <p:cNvSpPr/>
          <p:nvPr/>
        </p:nvSpPr>
        <p:spPr>
          <a:xfrm>
            <a:off x="4791456" y="2057400"/>
            <a:ext cx="292608" cy="0"/>
          </a:xfrm>
          <a:prstGeom prst="line">
            <a:avLst/>
          </a:prstGeom>
          <a:noFill/>
          <a:ln w="22225">
            <a:solidFill>
              <a:srgbClr val="64748B"/>
            </a:solidFill>
            <a:prstDash val="solid"/>
            <a:tailEnd type="triangle"/>
          </a:ln>
        </p:spPr>
      </p:sp>
      <p:sp>
        <p:nvSpPr>
          <p:cNvPr id="16" name="pipeline arrow 2"/>
          <p:cNvSpPr/>
          <p:nvPr/>
        </p:nvSpPr>
        <p:spPr>
          <a:xfrm>
            <a:off x="7077456" y="2057400"/>
            <a:ext cx="292608" cy="0"/>
          </a:xfrm>
          <a:prstGeom prst="line">
            <a:avLst/>
          </a:prstGeom>
          <a:noFill/>
          <a:ln w="22225">
            <a:solidFill>
              <a:srgbClr val="64748B"/>
            </a:solidFill>
            <a:prstDash val="solid"/>
            <a:tailEnd type="triangle"/>
          </a:ln>
        </p:spPr>
      </p:sp>
      <p:sp>
        <p:nvSpPr>
          <p:cNvPr id="17" name="pipeline arrow 3"/>
          <p:cNvSpPr/>
          <p:nvPr/>
        </p:nvSpPr>
        <p:spPr>
          <a:xfrm>
            <a:off x="9363456" y="2057400"/>
            <a:ext cx="292608" cy="0"/>
          </a:xfrm>
          <a:prstGeom prst="line">
            <a:avLst/>
          </a:prstGeom>
          <a:noFill/>
          <a:ln w="22225">
            <a:solidFill>
              <a:srgbClr val="64748B"/>
            </a:solidFill>
            <a:prstDash val="solid"/>
            <a:tailEnd type="triangle"/>
          </a:ln>
        </p:spPr>
      </p:sp>
      <p:sp>
        <p:nvSpPr>
          <p:cNvPr id="18" name="cluster"/>
          <p:cNvSpPr/>
          <p:nvPr/>
        </p:nvSpPr>
        <p:spPr>
          <a:xfrm>
            <a:off x="548640" y="3063240"/>
            <a:ext cx="7726680" cy="3063240"/>
          </a:xfrm>
          <a:prstGeom prst="roundRect">
            <a:avLst>
              <a:gd name="adj" fmla="val 3582"/>
            </a:avLst>
          </a:prstGeom>
          <a:solidFill>
            <a:schemeClr val="bg2"/>
          </a:solidFill>
          <a:ln w="12700">
            <a:solidFill>
              <a:schemeClr val="accent5"/>
            </a:solidFill>
            <a:prstDash val="dash"/>
          </a:ln>
        </p:spPr>
      </p:sp>
      <p:sp>
        <p:nvSpPr>
          <p:cNvPr id="19" name="Text 17"/>
          <p:cNvSpPr txBox="1"/>
          <p:nvPr/>
        </p:nvSpPr>
        <p:spPr>
          <a:xfrm>
            <a:off x="731520" y="3172968"/>
            <a:ext cx="7315200" cy="274320"/>
          </a:xfrm>
          <a:prstGeom prst="rect">
            <a:avLst/>
          </a:prstGeom>
          <a:noFill/>
          <a:ln/>
        </p:spPr>
        <p:txBody>
          <a:bodyPr wrap="square" lIns="0" tIns="0" rIns="0" bIns="0" rtlCol="0" anchor="ctr"/>
          <a:lstStyle/>
          <a:p>
            <a:pPr indent="0" marL="0">
              <a:buNone/>
            </a:pPr>
            <a:r>
              <a:rPr lang="en-US" sz="1300" b="1" dirty="0">
                <a:solidFill>
                  <a:schemeClr val="accent1"/>
                </a:solidFill>
              </a:rPr>
              <a:t>Kubernetes · kind locally, EKS on AWS (Terraform: VPC + EKS)</a:t>
            </a:r>
            <a:endParaRPr lang="en-US" sz="1300" dirty="0"/>
          </a:p>
        </p:txBody>
      </p:sp>
      <p:sp>
        <p:nvSpPr>
          <p:cNvPr id="20" name="ingress"/>
          <p:cNvSpPr/>
          <p:nvPr/>
        </p:nvSpPr>
        <p:spPr>
          <a:xfrm>
            <a:off x="777240" y="4069080"/>
            <a:ext cx="1737360" cy="1051560"/>
          </a:xfrm>
          <a:prstGeom prst="roundRect">
            <a:avLst>
              <a:gd name="adj" fmla="val 8696"/>
            </a:avLst>
          </a:prstGeom>
          <a:solidFill>
            <a:schemeClr val="bg1"/>
          </a:solidFill>
          <a:ln w="12700">
            <a:solidFill>
              <a:schemeClr val="bg1"/>
            </a:solidFill>
            <a:prstDash val="solid"/>
          </a:ln>
          <a:effectLst>
            <a:outerShdw sx="100000" sy="100000" kx="0" ky="0" algn="bl" rotWithShape="0" blurRad="127000" dist="38100" dir="5400000">
              <a:srgbClr val="1E1B4B">
                <a:alpha val="18000"/>
              </a:srgbClr>
            </a:outerShdw>
          </a:effectLst>
        </p:spPr>
      </p:sp>
      <p:sp>
        <p:nvSpPr>
          <p:cNvPr id="21" name="Text 19"/>
          <p:cNvSpPr txBox="1"/>
          <p:nvPr/>
        </p:nvSpPr>
        <p:spPr>
          <a:xfrm>
            <a:off x="868680" y="4069080"/>
            <a:ext cx="1554480" cy="1051560"/>
          </a:xfrm>
          <a:prstGeom prst="rect">
            <a:avLst/>
          </a:prstGeom>
          <a:noFill/>
          <a:ln/>
        </p:spPr>
        <p:txBody>
          <a:bodyPr wrap="square" lIns="0" tIns="0" rIns="0" bIns="0" rtlCol="0" anchor="ctr"/>
          <a:lstStyle/>
          <a:p>
            <a:pPr algn="ctr" indent="0" marL="0">
              <a:buNone/>
            </a:pPr>
            <a:r>
              <a:rPr lang="en-US" sz="1500" b="1" dirty="0">
                <a:solidFill>
                  <a:schemeClr val="tx1"/>
                </a:solidFill>
              </a:rPr>
              <a:t>Ingress</a:t>
            </a:r>
            <a:endParaRPr lang="en-US" sz="1500" dirty="0"/>
          </a:p>
          <a:p>
            <a:pPr algn="ctr" indent="0" marL="0">
              <a:buNone/>
            </a:pPr>
            <a:r>
              <a:rPr lang="en-US" sz="1200" dirty="0">
                <a:solidFill>
                  <a:schemeClr val="tx1"/>
                </a:solidFill>
              </a:rPr>
              <a:t>nginx</a:t>
            </a:r>
            <a:endParaRPr lang="en-US" sz="1500" dirty="0"/>
          </a:p>
        </p:txBody>
      </p:sp>
      <p:sp>
        <p:nvSpPr>
          <p:cNvPr id="22" name="frontend"/>
          <p:cNvSpPr/>
          <p:nvPr/>
        </p:nvSpPr>
        <p:spPr>
          <a:xfrm>
            <a:off x="3246120" y="3520440"/>
            <a:ext cx="2331720" cy="914400"/>
          </a:xfrm>
          <a:prstGeom prst="roundRect">
            <a:avLst>
              <a:gd name="adj" fmla="val 10000"/>
            </a:avLst>
          </a:prstGeom>
          <a:solidFill>
            <a:schemeClr val="bg1"/>
          </a:solidFill>
          <a:ln w="12700">
            <a:solidFill>
              <a:schemeClr val="bg1"/>
            </a:solidFill>
            <a:prstDash val="solid"/>
          </a:ln>
          <a:effectLst>
            <a:outerShdw sx="100000" sy="100000" kx="0" ky="0" algn="bl" rotWithShape="0" blurRad="127000" dist="38100" dir="5400000">
              <a:srgbClr val="1E1B4B">
                <a:alpha val="18000"/>
              </a:srgbClr>
            </a:outerShdw>
          </a:effectLst>
        </p:spPr>
      </p:sp>
      <p:sp>
        <p:nvSpPr>
          <p:cNvPr id="23" name="Text 21"/>
          <p:cNvSpPr txBox="1"/>
          <p:nvPr/>
        </p:nvSpPr>
        <p:spPr>
          <a:xfrm>
            <a:off x="3337560" y="3520440"/>
            <a:ext cx="2148840" cy="914400"/>
          </a:xfrm>
          <a:prstGeom prst="rect">
            <a:avLst/>
          </a:prstGeom>
          <a:noFill/>
          <a:ln/>
        </p:spPr>
        <p:txBody>
          <a:bodyPr wrap="square" lIns="0" tIns="0" rIns="0" bIns="0" rtlCol="0" anchor="ctr"/>
          <a:lstStyle/>
          <a:p>
            <a:pPr algn="ctr" indent="0" marL="0">
              <a:buNone/>
            </a:pPr>
            <a:r>
              <a:rPr lang="en-US" sz="1500" b="1" dirty="0">
                <a:solidFill>
                  <a:schemeClr val="tx1"/>
                </a:solidFill>
              </a:rPr>
              <a:t>Frontend</a:t>
            </a:r>
            <a:endParaRPr lang="en-US" sz="1500" dirty="0"/>
          </a:p>
          <a:p>
            <a:pPr algn="ctr" indent="0" marL="0">
              <a:buNone/>
            </a:pPr>
            <a:r>
              <a:rPr lang="en-US" sz="1200" dirty="0">
                <a:solidFill>
                  <a:schemeClr val="tx1"/>
                </a:solidFill>
              </a:rPr>
              <a:t>React + Nginx · 2 pods</a:t>
            </a:r>
            <a:endParaRPr lang="en-US" sz="1500" dirty="0"/>
          </a:p>
        </p:txBody>
      </p:sp>
      <p:sp>
        <p:nvSpPr>
          <p:cNvPr id="24" name="backend"/>
          <p:cNvSpPr/>
          <p:nvPr/>
        </p:nvSpPr>
        <p:spPr>
          <a:xfrm>
            <a:off x="3246120" y="4846320"/>
            <a:ext cx="2331720" cy="914400"/>
          </a:xfrm>
          <a:prstGeom prst="roundRect">
            <a:avLst>
              <a:gd name="adj" fmla="val 10000"/>
            </a:avLst>
          </a:prstGeom>
          <a:solidFill>
            <a:schemeClr val="accent1"/>
          </a:solidFill>
          <a:ln w="12700">
            <a:solidFill>
              <a:schemeClr val="accent1"/>
            </a:solidFill>
            <a:prstDash val="solid"/>
          </a:ln>
          <a:effectLst>
            <a:outerShdw sx="100000" sy="100000" kx="0" ky="0" algn="bl" rotWithShape="0" blurRad="127000" dist="38100" dir="5400000">
              <a:srgbClr val="1E1B4B">
                <a:alpha val="18000"/>
              </a:srgbClr>
            </a:outerShdw>
          </a:effectLst>
        </p:spPr>
      </p:sp>
      <p:sp>
        <p:nvSpPr>
          <p:cNvPr id="25" name="Text 23"/>
          <p:cNvSpPr txBox="1"/>
          <p:nvPr/>
        </p:nvSpPr>
        <p:spPr>
          <a:xfrm>
            <a:off x="3337560" y="4846320"/>
            <a:ext cx="2148840" cy="914400"/>
          </a:xfrm>
          <a:prstGeom prst="rect">
            <a:avLst/>
          </a:prstGeom>
          <a:noFill/>
          <a:ln/>
        </p:spPr>
        <p:txBody>
          <a:bodyPr wrap="square" lIns="0" tIns="0" rIns="0" bIns="0" rtlCol="0" anchor="ctr"/>
          <a:lstStyle/>
          <a:p>
            <a:pPr algn="ctr" indent="0" marL="0">
              <a:buNone/>
            </a:pPr>
            <a:r>
              <a:rPr lang="en-US" sz="1500" b="1" dirty="0">
                <a:solidFill>
                  <a:schemeClr val="bg1"/>
                </a:solidFill>
              </a:rPr>
              <a:t>Backend</a:t>
            </a:r>
            <a:endParaRPr lang="en-US" sz="1500" dirty="0"/>
          </a:p>
          <a:p>
            <a:pPr algn="ctr" indent="0" marL="0">
              <a:buNone/>
            </a:pPr>
            <a:r>
              <a:rPr lang="en-US" sz="1200" dirty="0">
                <a:solidFill>
                  <a:schemeClr val="bg1"/>
                </a:solidFill>
              </a:rPr>
              <a:t>FastAPI · 2–5 pods (HPA)</a:t>
            </a:r>
            <a:endParaRPr lang="en-US" sz="1500" dirty="0"/>
          </a:p>
        </p:txBody>
      </p:sp>
      <p:sp>
        <p:nvSpPr>
          <p:cNvPr id="26" name="postgres"/>
          <p:cNvSpPr/>
          <p:nvPr/>
        </p:nvSpPr>
        <p:spPr>
          <a:xfrm>
            <a:off x="6035040" y="4846320"/>
            <a:ext cx="2011680" cy="914400"/>
          </a:xfrm>
          <a:prstGeom prst="roundRect">
            <a:avLst>
              <a:gd name="adj" fmla="val 10000"/>
            </a:avLst>
          </a:prstGeom>
          <a:solidFill>
            <a:schemeClr val="bg1"/>
          </a:solidFill>
          <a:ln w="12700">
            <a:solidFill>
              <a:schemeClr val="bg1"/>
            </a:solidFill>
            <a:prstDash val="solid"/>
          </a:ln>
          <a:effectLst>
            <a:outerShdw sx="100000" sy="100000" kx="0" ky="0" algn="bl" rotWithShape="0" blurRad="127000" dist="38100" dir="5400000">
              <a:srgbClr val="1E1B4B">
                <a:alpha val="18000"/>
              </a:srgbClr>
            </a:outerShdw>
          </a:effectLst>
        </p:spPr>
      </p:sp>
      <p:sp>
        <p:nvSpPr>
          <p:cNvPr id="27" name="Text 25"/>
          <p:cNvSpPr txBox="1"/>
          <p:nvPr/>
        </p:nvSpPr>
        <p:spPr>
          <a:xfrm>
            <a:off x="6126480" y="4846320"/>
            <a:ext cx="1828800" cy="914400"/>
          </a:xfrm>
          <a:prstGeom prst="rect">
            <a:avLst/>
          </a:prstGeom>
          <a:noFill/>
          <a:ln/>
        </p:spPr>
        <p:txBody>
          <a:bodyPr wrap="square" lIns="0" tIns="0" rIns="0" bIns="0" rtlCol="0" anchor="ctr"/>
          <a:lstStyle/>
          <a:p>
            <a:pPr algn="ctr" indent="0" marL="0">
              <a:buNone/>
            </a:pPr>
            <a:r>
              <a:rPr lang="en-US" sz="1500" b="1" dirty="0">
                <a:solidFill>
                  <a:schemeClr val="tx1"/>
                </a:solidFill>
              </a:rPr>
              <a:t>PostgreSQL 16</a:t>
            </a:r>
            <a:endParaRPr lang="en-US" sz="1500" dirty="0"/>
          </a:p>
          <a:p>
            <a:pPr algn="ctr" indent="0" marL="0">
              <a:buNone/>
            </a:pPr>
            <a:r>
              <a:rPr lang="en-US" sz="1200" dirty="0">
                <a:solidFill>
                  <a:schemeClr val="tx1"/>
                </a:solidFill>
              </a:rPr>
              <a:t>StatefulSet + PVC</a:t>
            </a:r>
            <a:endParaRPr lang="en-US" sz="1500" dirty="0"/>
          </a:p>
        </p:txBody>
      </p:sp>
      <p:sp>
        <p:nvSpPr>
          <p:cNvPr id="28" name="ingress to frontend"/>
          <p:cNvSpPr/>
          <p:nvPr/>
        </p:nvSpPr>
        <p:spPr>
          <a:xfrm>
            <a:off x="2514600" y="3977640"/>
            <a:ext cx="731520" cy="0"/>
          </a:xfrm>
          <a:prstGeom prst="line">
            <a:avLst/>
          </a:prstGeom>
          <a:noFill/>
          <a:ln w="22225">
            <a:solidFill>
              <a:srgbClr val="64748B"/>
            </a:solidFill>
            <a:prstDash val="solid"/>
            <a:tailEnd type="triangle"/>
          </a:ln>
        </p:spPr>
      </p:sp>
      <p:sp>
        <p:nvSpPr>
          <p:cNvPr id="29" name="ingress to backend"/>
          <p:cNvSpPr/>
          <p:nvPr/>
        </p:nvSpPr>
        <p:spPr>
          <a:xfrm>
            <a:off x="2514600" y="5303520"/>
            <a:ext cx="731520" cy="0"/>
          </a:xfrm>
          <a:prstGeom prst="line">
            <a:avLst/>
          </a:prstGeom>
          <a:noFill/>
          <a:ln w="22225">
            <a:solidFill>
              <a:srgbClr val="64748B"/>
            </a:solidFill>
            <a:prstDash val="solid"/>
            <a:tailEnd type="triangle"/>
          </a:ln>
        </p:spPr>
      </p:sp>
      <p:sp>
        <p:nvSpPr>
          <p:cNvPr id="30" name="ingress spine"/>
          <p:cNvSpPr/>
          <p:nvPr/>
        </p:nvSpPr>
        <p:spPr>
          <a:xfrm>
            <a:off x="2514600" y="3977640"/>
            <a:ext cx="0" cy="1325880"/>
          </a:xfrm>
          <a:prstGeom prst="line">
            <a:avLst/>
          </a:prstGeom>
          <a:noFill/>
          <a:ln w="22225">
            <a:solidFill>
              <a:srgbClr val="64748B"/>
            </a:solidFill>
            <a:prstDash val="solid"/>
          </a:ln>
        </p:spPr>
      </p:sp>
      <p:sp>
        <p:nvSpPr>
          <p:cNvPr id="31" name="Text 29"/>
          <p:cNvSpPr txBox="1"/>
          <p:nvPr/>
        </p:nvSpPr>
        <p:spPr>
          <a:xfrm>
            <a:off x="2514600" y="3685032"/>
            <a:ext cx="731520" cy="256032"/>
          </a:xfrm>
          <a:prstGeom prst="rect">
            <a:avLst/>
          </a:prstGeom>
          <a:noFill/>
          <a:ln/>
        </p:spPr>
        <p:txBody>
          <a:bodyPr wrap="square" lIns="0" tIns="0" rIns="0" bIns="0" rtlCol="0" anchor="ctr"/>
          <a:lstStyle/>
          <a:p>
            <a:pPr algn="ctr" indent="0" marL="0">
              <a:buNone/>
            </a:pPr>
            <a:r>
              <a:rPr lang="en-US" sz="1200" b="1" dirty="0">
                <a:solidFill>
                  <a:schemeClr val="accent6"/>
                </a:solidFill>
              </a:rPr>
              <a:t>/</a:t>
            </a:r>
            <a:endParaRPr lang="en-US" sz="1200" dirty="0"/>
          </a:p>
        </p:txBody>
      </p:sp>
      <p:sp>
        <p:nvSpPr>
          <p:cNvPr id="32" name="Text 30"/>
          <p:cNvSpPr txBox="1"/>
          <p:nvPr/>
        </p:nvSpPr>
        <p:spPr>
          <a:xfrm>
            <a:off x="2514600" y="5010912"/>
            <a:ext cx="731520" cy="256032"/>
          </a:xfrm>
          <a:prstGeom prst="rect">
            <a:avLst/>
          </a:prstGeom>
          <a:noFill/>
          <a:ln/>
        </p:spPr>
        <p:txBody>
          <a:bodyPr wrap="square" lIns="0" tIns="0" rIns="0" bIns="0" rtlCol="0" anchor="ctr"/>
          <a:lstStyle/>
          <a:p>
            <a:pPr algn="ctr" indent="0" marL="0">
              <a:buNone/>
            </a:pPr>
            <a:r>
              <a:rPr lang="en-US" sz="1200" b="1" dirty="0">
                <a:solidFill>
                  <a:schemeClr val="accent6"/>
                </a:solidFill>
              </a:rPr>
              <a:t>/api</a:t>
            </a:r>
            <a:endParaRPr lang="en-US" sz="1200" dirty="0"/>
          </a:p>
        </p:txBody>
      </p:sp>
      <p:sp>
        <p:nvSpPr>
          <p:cNvPr id="33" name="backend to postgres"/>
          <p:cNvSpPr/>
          <p:nvPr/>
        </p:nvSpPr>
        <p:spPr>
          <a:xfrm>
            <a:off x="5577840" y="5303520"/>
            <a:ext cx="457200" cy="0"/>
          </a:xfrm>
          <a:prstGeom prst="line">
            <a:avLst/>
          </a:prstGeom>
          <a:noFill/>
          <a:ln w="22225">
            <a:solidFill>
              <a:srgbClr val="64748B"/>
            </a:solidFill>
            <a:prstDash val="solid"/>
            <a:tailEnd type="triangle"/>
          </a:ln>
        </p:spPr>
      </p:sp>
      <p:sp>
        <p:nvSpPr>
          <p:cNvPr id="34" name="monitoring"/>
          <p:cNvSpPr/>
          <p:nvPr/>
        </p:nvSpPr>
        <p:spPr>
          <a:xfrm>
            <a:off x="8641080" y="3063240"/>
            <a:ext cx="2999232" cy="3063240"/>
          </a:xfrm>
          <a:prstGeom prst="roundRect">
            <a:avLst>
              <a:gd name="adj" fmla="val 3659"/>
            </a:avLst>
          </a:prstGeom>
          <a:solidFill>
            <a:schemeClr val="bg2"/>
          </a:solidFill>
          <a:ln w="12700">
            <a:solidFill>
              <a:schemeClr val="accent5"/>
            </a:solidFill>
            <a:prstDash val="dash"/>
          </a:ln>
        </p:spPr>
      </p:sp>
      <p:sp>
        <p:nvSpPr>
          <p:cNvPr id="35" name="Text 33"/>
          <p:cNvSpPr txBox="1"/>
          <p:nvPr/>
        </p:nvSpPr>
        <p:spPr>
          <a:xfrm>
            <a:off x="8823960" y="3172968"/>
            <a:ext cx="2651760" cy="274320"/>
          </a:xfrm>
          <a:prstGeom prst="rect">
            <a:avLst/>
          </a:prstGeom>
          <a:noFill/>
          <a:ln/>
        </p:spPr>
        <p:txBody>
          <a:bodyPr wrap="square" lIns="0" tIns="0" rIns="0" bIns="0" rtlCol="0" anchor="ctr"/>
          <a:lstStyle/>
          <a:p>
            <a:pPr indent="0" marL="0">
              <a:buNone/>
            </a:pPr>
            <a:r>
              <a:rPr lang="en-US" sz="1300" b="1" dirty="0">
                <a:solidFill>
                  <a:schemeClr val="accent1"/>
                </a:solidFill>
              </a:rPr>
              <a:t>Monitoring</a:t>
            </a:r>
            <a:endParaRPr lang="en-US" sz="1300" dirty="0"/>
          </a:p>
        </p:txBody>
      </p:sp>
      <p:sp>
        <p:nvSpPr>
          <p:cNvPr id="36" name="prometheus"/>
          <p:cNvSpPr/>
          <p:nvPr/>
        </p:nvSpPr>
        <p:spPr>
          <a:xfrm>
            <a:off x="8869680" y="3520440"/>
            <a:ext cx="2560320" cy="914400"/>
          </a:xfrm>
          <a:prstGeom prst="roundRect">
            <a:avLst>
              <a:gd name="adj" fmla="val 10000"/>
            </a:avLst>
          </a:prstGeom>
          <a:solidFill>
            <a:schemeClr val="bg1"/>
          </a:solidFill>
          <a:ln w="12700">
            <a:solidFill>
              <a:schemeClr val="bg1"/>
            </a:solidFill>
            <a:prstDash val="solid"/>
          </a:ln>
          <a:effectLst>
            <a:outerShdw sx="100000" sy="100000" kx="0" ky="0" algn="bl" rotWithShape="0" blurRad="127000" dist="38100" dir="5400000">
              <a:srgbClr val="1E1B4B">
                <a:alpha val="18000"/>
              </a:srgbClr>
            </a:outerShdw>
          </a:effectLst>
        </p:spPr>
      </p:sp>
      <p:sp>
        <p:nvSpPr>
          <p:cNvPr id="37" name="Text 35"/>
          <p:cNvSpPr txBox="1"/>
          <p:nvPr/>
        </p:nvSpPr>
        <p:spPr>
          <a:xfrm>
            <a:off x="8961120" y="3520440"/>
            <a:ext cx="2377440" cy="914400"/>
          </a:xfrm>
          <a:prstGeom prst="rect">
            <a:avLst/>
          </a:prstGeom>
          <a:noFill/>
          <a:ln/>
        </p:spPr>
        <p:txBody>
          <a:bodyPr wrap="square" lIns="0" tIns="0" rIns="0" bIns="0" rtlCol="0" anchor="ctr"/>
          <a:lstStyle/>
          <a:p>
            <a:pPr algn="ctr" indent="0" marL="0">
              <a:buNone/>
            </a:pPr>
            <a:r>
              <a:rPr lang="en-US" sz="1500" b="1" dirty="0">
                <a:solidFill>
                  <a:schemeClr val="tx1"/>
                </a:solidFill>
              </a:rPr>
              <a:t>Prometheus</a:t>
            </a:r>
            <a:endParaRPr lang="en-US" sz="1500" dirty="0"/>
          </a:p>
          <a:p>
            <a:pPr algn="ctr" indent="0" marL="0">
              <a:buNone/>
            </a:pPr>
            <a:r>
              <a:rPr lang="en-US" sz="1200" dirty="0">
                <a:solidFill>
                  <a:schemeClr val="tx1"/>
                </a:solidFill>
              </a:rPr>
              <a:t>ServiceMonitor · alert rules</a:t>
            </a:r>
            <a:endParaRPr lang="en-US" sz="1500" dirty="0"/>
          </a:p>
        </p:txBody>
      </p:sp>
      <p:sp>
        <p:nvSpPr>
          <p:cNvPr id="38" name="grafana"/>
          <p:cNvSpPr/>
          <p:nvPr/>
        </p:nvSpPr>
        <p:spPr>
          <a:xfrm>
            <a:off x="8869680" y="4846320"/>
            <a:ext cx="2560320" cy="914400"/>
          </a:xfrm>
          <a:prstGeom prst="roundRect">
            <a:avLst>
              <a:gd name="adj" fmla="val 10000"/>
            </a:avLst>
          </a:prstGeom>
          <a:solidFill>
            <a:schemeClr val="accent4"/>
          </a:solidFill>
          <a:ln w="12700">
            <a:solidFill>
              <a:schemeClr val="accent4"/>
            </a:solidFill>
            <a:prstDash val="solid"/>
          </a:ln>
          <a:effectLst>
            <a:outerShdw sx="100000" sy="100000" kx="0" ky="0" algn="bl" rotWithShape="0" blurRad="127000" dist="38100" dir="5400000">
              <a:srgbClr val="1E1B4B">
                <a:alpha val="18000"/>
              </a:srgbClr>
            </a:outerShdw>
          </a:effectLst>
        </p:spPr>
      </p:sp>
      <p:sp>
        <p:nvSpPr>
          <p:cNvPr id="39" name="Text 37"/>
          <p:cNvSpPr txBox="1"/>
          <p:nvPr/>
        </p:nvSpPr>
        <p:spPr>
          <a:xfrm>
            <a:off x="8961120" y="4846320"/>
            <a:ext cx="2377440" cy="914400"/>
          </a:xfrm>
          <a:prstGeom prst="rect">
            <a:avLst/>
          </a:prstGeom>
          <a:noFill/>
          <a:ln/>
        </p:spPr>
        <p:txBody>
          <a:bodyPr wrap="square" lIns="0" tIns="0" rIns="0" bIns="0" rtlCol="0" anchor="ctr"/>
          <a:lstStyle/>
          <a:p>
            <a:pPr algn="ctr" indent="0" marL="0">
              <a:buNone/>
            </a:pPr>
            <a:r>
              <a:rPr lang="en-US" sz="1500" b="1" dirty="0">
                <a:solidFill>
                  <a:schemeClr val="bg1"/>
                </a:solidFill>
              </a:rPr>
              <a:t>Grafana</a:t>
            </a:r>
            <a:endParaRPr lang="en-US" sz="1500" dirty="0"/>
          </a:p>
          <a:p>
            <a:pPr algn="ctr" indent="0" marL="0">
              <a:buNone/>
            </a:pPr>
            <a:r>
              <a:rPr lang="en-US" sz="1200" dirty="0">
                <a:solidFill>
                  <a:schemeClr val="bg1"/>
                </a:solidFill>
              </a:rPr>
              <a:t>dashboard + drift alert</a:t>
            </a:r>
            <a:endParaRPr lang="en-US" sz="1500" dirty="0"/>
          </a:p>
        </p:txBody>
      </p:sp>
      <p:sp>
        <p:nvSpPr>
          <p:cNvPr id="40" name="prometheus to grafana"/>
          <p:cNvSpPr/>
          <p:nvPr/>
        </p:nvSpPr>
        <p:spPr>
          <a:xfrm>
            <a:off x="10149840" y="4453128"/>
            <a:ext cx="0" cy="374904"/>
          </a:xfrm>
          <a:prstGeom prst="line">
            <a:avLst/>
          </a:prstGeom>
          <a:noFill/>
          <a:ln w="22225">
            <a:solidFill>
              <a:srgbClr val="64748B"/>
            </a:solidFill>
            <a:prstDash val="solid"/>
            <a:tailEnd type="triangle"/>
          </a:ln>
        </p:spPr>
      </p:sp>
      <p:sp>
        <p:nvSpPr>
          <p:cNvPr id="41" name="metrics a"/>
          <p:cNvSpPr/>
          <p:nvPr/>
        </p:nvSpPr>
        <p:spPr>
          <a:xfrm>
            <a:off x="5577840" y="5074920"/>
            <a:ext cx="228600" cy="0"/>
          </a:xfrm>
          <a:prstGeom prst="line">
            <a:avLst/>
          </a:prstGeom>
          <a:noFill/>
          <a:ln w="22225">
            <a:solidFill>
              <a:schemeClr val="accent1"/>
            </a:solidFill>
            <a:prstDash val="solid"/>
          </a:ln>
        </p:spPr>
      </p:sp>
      <p:sp>
        <p:nvSpPr>
          <p:cNvPr id="42" name="metrics b"/>
          <p:cNvSpPr/>
          <p:nvPr/>
        </p:nvSpPr>
        <p:spPr>
          <a:xfrm>
            <a:off x="5806440" y="4206240"/>
            <a:ext cx="0" cy="868680"/>
          </a:xfrm>
          <a:prstGeom prst="line">
            <a:avLst/>
          </a:prstGeom>
          <a:noFill/>
          <a:ln w="22225">
            <a:solidFill>
              <a:schemeClr val="accent1"/>
            </a:solidFill>
            <a:prstDash val="solid"/>
          </a:ln>
        </p:spPr>
      </p:sp>
      <p:sp>
        <p:nvSpPr>
          <p:cNvPr id="43" name="metrics c"/>
          <p:cNvSpPr/>
          <p:nvPr/>
        </p:nvSpPr>
        <p:spPr>
          <a:xfrm>
            <a:off x="5806440" y="4206240"/>
            <a:ext cx="2697480" cy="0"/>
          </a:xfrm>
          <a:prstGeom prst="line">
            <a:avLst/>
          </a:prstGeom>
          <a:noFill/>
          <a:ln w="22225">
            <a:solidFill>
              <a:schemeClr val="accent1"/>
            </a:solidFill>
            <a:prstDash val="solid"/>
          </a:ln>
        </p:spPr>
      </p:sp>
      <p:sp>
        <p:nvSpPr>
          <p:cNvPr id="44" name="metrics d"/>
          <p:cNvSpPr/>
          <p:nvPr/>
        </p:nvSpPr>
        <p:spPr>
          <a:xfrm>
            <a:off x="8503920" y="4206240"/>
            <a:ext cx="347472" cy="0"/>
          </a:xfrm>
          <a:prstGeom prst="line">
            <a:avLst/>
          </a:prstGeom>
          <a:noFill/>
          <a:ln w="22225">
            <a:solidFill>
              <a:srgbClr val="4F46E5"/>
            </a:solidFill>
            <a:prstDash val="solid"/>
            <a:tailEnd type="triangle"/>
          </a:ln>
        </p:spPr>
      </p:sp>
      <p:sp>
        <p:nvSpPr>
          <p:cNvPr id="45" name="Text 43"/>
          <p:cNvSpPr txBox="1"/>
          <p:nvPr/>
        </p:nvSpPr>
        <p:spPr>
          <a:xfrm>
            <a:off x="5897880" y="3904488"/>
            <a:ext cx="2377440" cy="256032"/>
          </a:xfrm>
          <a:prstGeom prst="rect">
            <a:avLst/>
          </a:prstGeom>
          <a:noFill/>
          <a:ln/>
        </p:spPr>
        <p:txBody>
          <a:bodyPr wrap="square" lIns="0" tIns="0" rIns="0" bIns="0" rtlCol="0" anchor="ctr"/>
          <a:lstStyle/>
          <a:p>
            <a:pPr algn="l" indent="0" marL="0">
              <a:buNone/>
            </a:pPr>
            <a:r>
              <a:rPr lang="en-US" sz="1200" b="1" dirty="0">
                <a:solidFill>
                  <a:schemeClr val="accent1"/>
                </a:solidFill>
              </a:rPr>
              <a:t>/metrics every 15 s</a:t>
            </a:r>
            <a:endParaRPr lang="en-US" sz="1200" dirty="0"/>
          </a:p>
        </p:txBody>
      </p:sp>
      <p:sp>
        <p:nvSpPr>
          <p:cNvPr id="46" name="helm down"/>
          <p:cNvSpPr/>
          <p:nvPr/>
        </p:nvSpPr>
        <p:spPr>
          <a:xfrm>
            <a:off x="10652760" y="2542032"/>
            <a:ext cx="0" cy="246888"/>
          </a:xfrm>
          <a:prstGeom prst="line">
            <a:avLst/>
          </a:prstGeom>
          <a:noFill/>
          <a:ln w="22225">
            <a:solidFill>
              <a:srgbClr val="64748B"/>
            </a:solidFill>
            <a:prstDash val="solid"/>
          </a:ln>
        </p:spPr>
      </p:sp>
      <p:sp>
        <p:nvSpPr>
          <p:cNvPr id="47" name="helm across"/>
          <p:cNvSpPr/>
          <p:nvPr/>
        </p:nvSpPr>
        <p:spPr>
          <a:xfrm>
            <a:off x="7223760" y="2788920"/>
            <a:ext cx="3429000" cy="0"/>
          </a:xfrm>
          <a:prstGeom prst="line">
            <a:avLst/>
          </a:prstGeom>
          <a:noFill/>
          <a:ln w="22225">
            <a:solidFill>
              <a:srgbClr val="64748B"/>
            </a:solidFill>
            <a:prstDash val="solid"/>
          </a:ln>
        </p:spPr>
      </p:sp>
      <p:sp>
        <p:nvSpPr>
          <p:cNvPr id="48" name="helm to cluster"/>
          <p:cNvSpPr/>
          <p:nvPr/>
        </p:nvSpPr>
        <p:spPr>
          <a:xfrm>
            <a:off x="7223760" y="2788920"/>
            <a:ext cx="0" cy="246888"/>
          </a:xfrm>
          <a:prstGeom prst="line">
            <a:avLst/>
          </a:prstGeom>
          <a:noFill/>
          <a:ln w="22225">
            <a:solidFill>
              <a:srgbClr val="64748B"/>
            </a:solidFill>
            <a:prstDash val="solid"/>
            <a:tailEnd type="triangle"/>
          </a:ln>
        </p:spPr>
      </p:sp>
      <p:sp>
        <p:nvSpPr>
          <p:cNvPr id="49" name="Text 47"/>
          <p:cNvSpPr txBox="1"/>
          <p:nvPr/>
        </p:nvSpPr>
        <p:spPr>
          <a:xfrm>
            <a:off x="7315200" y="2816352"/>
            <a:ext cx="1097280" cy="256032"/>
          </a:xfrm>
          <a:prstGeom prst="rect">
            <a:avLst/>
          </a:prstGeom>
          <a:noFill/>
          <a:ln/>
        </p:spPr>
        <p:txBody>
          <a:bodyPr wrap="square" lIns="0" tIns="0" rIns="0" bIns="0" rtlCol="0" anchor="ctr"/>
          <a:lstStyle/>
          <a:p>
            <a:pPr algn="l" indent="0" marL="0">
              <a:buNone/>
            </a:pPr>
            <a:r>
              <a:rPr lang="en-US" sz="1200" b="1" dirty="0">
                <a:solidFill>
                  <a:schemeClr val="accent6"/>
                </a:solidFill>
              </a:rPr>
              <a:t>deploys</a:t>
            </a:r>
            <a:endParaRPr lang="en-US" sz="12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RUBRIC COVERAGE</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Ten modules, one pipeline</a:t>
            </a:r>
            <a:endParaRPr lang="en-US" sz="3400" dirty="0"/>
          </a:p>
        </p:txBody>
      </p:sp>
      <p:graphicFrame>
        <p:nvGraphicFramePr>
          <p:cNvPr id="5" name="rubric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743200"/>
                <a:gridCol w="914400"/>
                <a:gridCol w="7434072"/>
              </a:tblGrid>
              <a:tr h="393192">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Module</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Points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I built</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M1  Application</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FastAPI + PostgreSQL 16 + Alembic, React dashboard, GET/POST/PUT/DELETE API</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M2  Testing</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14 pytest tests on a throwaway SQLite database, ruff lint and format</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M3  Git and GitHub</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Public repository, 23 descriptive commits, .gitignore for secrets and build output</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M4  Docker</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Non-root images, multi-stage frontend, Compose with health-checked startup</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M5  CI/CD</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GitHub Actions: test → build → scan → push to GHCR with SHA tags → Helm deploy</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M6  DevSecOps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Trivy gate on HIGH/CRITICAL; 43 base-image CVEs found and fixed</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M7  Terraform</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VPC, subnets, NAT, IAM, EKS cluster and node group: 25 resources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M8  Kubernetes + Helm</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Helm chart: Deployments, StatefulSet, Services, Ingress, HPA</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M9  Observability</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ServiceMonitor, drift alert rule, auto-loaded Grafana dashboard</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393192">
                <a:tc>
                  <a:txBody>
                    <a:bodyPr/>
                    <a:lstStyle/>
                    <a:p>
                      <a:pPr algn="l" indent="0" marL="0">
                        <a:buNone/>
                      </a:pPr>
                      <a:r>
                        <a:rPr lang="en-US" sz="1400" b="1" dirty="0">
                          <a:solidFill>
                            <a:schemeClr val="tx1"/>
                          </a:solidFill>
                          <a:latin typeface="Calibri" pitchFamily="34" charset="0"/>
                          <a:ea typeface="Calibri" pitchFamily="34" charset="-122"/>
                          <a:cs typeface="Calibri" pitchFamily="34" charset="-120"/>
                        </a:rPr>
                        <a:t>M10 Presentation</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README with screenshots, live commit → pipeline → rollout</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M1 · APPLICATION · 10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A small API with a real database</a:t>
            </a:r>
            <a:endParaRPr lang="en-US" sz="3400" dirty="0"/>
          </a:p>
        </p:txBody>
      </p:sp>
      <p:sp>
        <p:nvSpPr>
          <p:cNvPr id="4" name="icon circle FastAPI backend"/>
          <p:cNvSpPr/>
          <p:nvPr/>
        </p:nvSpPr>
        <p:spPr>
          <a:xfrm>
            <a:off x="548640" y="1691640"/>
            <a:ext cx="512064" cy="512064"/>
          </a:xfrm>
          <a:prstGeom prst="ellipse">
            <a:avLst/>
          </a:prstGeom>
          <a:solidFill>
            <a:schemeClr val="accent1"/>
          </a:solidFill>
          <a:ln w="12700">
            <a:solidFill>
              <a:schemeClr val="accent1"/>
            </a:solidFill>
            <a:prstDash val="solid"/>
          </a:ln>
        </p:spPr>
      </p:sp>
      <p:pic>
        <p:nvPicPr>
          <p:cNvPr id="5" name="icon FastAPI backend" descr="preencoded.png">    </p:cNvPr>
          <p:cNvPicPr>
            <a:picLocks noChangeAspect="1"/>
          </p:cNvPicPr>
          <p:nvPr/>
        </p:nvPicPr>
        <p:blipFill>
          <a:blip r:embed="rId1"/>
          <a:stretch>
            <a:fillRect/>
          </a:stretch>
        </p:blipFill>
        <p:spPr>
          <a:xfrm>
            <a:off x="676656" y="1819656"/>
            <a:ext cx="256032" cy="256032"/>
          </a:xfrm>
          <a:prstGeom prst="rect">
            <a:avLst/>
          </a:prstGeom>
        </p:spPr>
      </p:pic>
      <p:sp>
        <p:nvSpPr>
          <p:cNvPr id="6" name="Text 3"/>
          <p:cNvSpPr txBox="1"/>
          <p:nvPr/>
        </p:nvSpPr>
        <p:spPr>
          <a:xfrm>
            <a:off x="1261872" y="1673352"/>
            <a:ext cx="4224528" cy="329184"/>
          </a:xfrm>
          <a:prstGeom prst="rect">
            <a:avLst/>
          </a:prstGeom>
          <a:noFill/>
          <a:ln/>
        </p:spPr>
        <p:txBody>
          <a:bodyPr wrap="square" lIns="0" tIns="0" rIns="0" bIns="0" rtlCol="0" anchor="t"/>
          <a:lstStyle/>
          <a:p>
            <a:pPr indent="0" marL="0">
              <a:buNone/>
            </a:pPr>
            <a:r>
              <a:rPr lang="en-US" sz="1700" b="1" dirty="0">
                <a:solidFill>
                  <a:schemeClr val="tx1"/>
                </a:solidFill>
              </a:rPr>
              <a:t>FastAPI backend</a:t>
            </a:r>
            <a:endParaRPr lang="en-US" sz="1700" dirty="0"/>
          </a:p>
        </p:txBody>
      </p:sp>
      <p:sp>
        <p:nvSpPr>
          <p:cNvPr id="7" name="Text 4"/>
          <p:cNvSpPr txBox="1"/>
          <p:nvPr/>
        </p:nvSpPr>
        <p:spPr>
          <a:xfrm>
            <a:off x="1261872" y="2020824"/>
            <a:ext cx="4224528" cy="749808"/>
          </a:xfrm>
          <a:prstGeom prst="rect">
            <a:avLst/>
          </a:prstGeom>
          <a:noFill/>
          <a:ln/>
        </p:spPr>
        <p:txBody>
          <a:bodyPr wrap="square" lIns="0" tIns="0" rIns="0" bIns="0" rtlCol="0" anchor="t"/>
          <a:lstStyle/>
          <a:p>
            <a:pPr indent="0" marL="0">
              <a:buNone/>
            </a:pPr>
            <a:r>
              <a:rPr lang="en-US" sz="1400" dirty="0">
                <a:solidFill>
                  <a:schemeClr val="tx2"/>
                </a:solidFill>
              </a:rPr>
              <a:t>GET, POST, PUT and DELETE on /api/datasets, plus /health, /ready and /metrics. Status follows the drift score.</a:t>
            </a:r>
            <a:endParaRPr lang="en-US" sz="1400" dirty="0"/>
          </a:p>
        </p:txBody>
      </p:sp>
      <p:sp>
        <p:nvSpPr>
          <p:cNvPr id="8" name="icon circle PostgreSQL 16 + Alembic"/>
          <p:cNvSpPr/>
          <p:nvPr/>
        </p:nvSpPr>
        <p:spPr>
          <a:xfrm>
            <a:off x="548640" y="3063240"/>
            <a:ext cx="512064" cy="512064"/>
          </a:xfrm>
          <a:prstGeom prst="ellipse">
            <a:avLst/>
          </a:prstGeom>
          <a:solidFill>
            <a:schemeClr val="accent1"/>
          </a:solidFill>
          <a:ln w="12700">
            <a:solidFill>
              <a:schemeClr val="accent1"/>
            </a:solidFill>
            <a:prstDash val="solid"/>
          </a:ln>
        </p:spPr>
      </p:sp>
      <p:pic>
        <p:nvPicPr>
          <p:cNvPr id="9" name="icon PostgreSQL 16 + Alembic" descr="preencoded.png">    </p:cNvPr>
          <p:cNvPicPr>
            <a:picLocks noChangeAspect="1"/>
          </p:cNvPicPr>
          <p:nvPr/>
        </p:nvPicPr>
        <p:blipFill>
          <a:blip r:embed="rId2"/>
          <a:stretch>
            <a:fillRect/>
          </a:stretch>
        </p:blipFill>
        <p:spPr>
          <a:xfrm>
            <a:off x="676656" y="3191256"/>
            <a:ext cx="256032" cy="256032"/>
          </a:xfrm>
          <a:prstGeom prst="rect">
            <a:avLst/>
          </a:prstGeom>
        </p:spPr>
      </p:pic>
      <p:sp>
        <p:nvSpPr>
          <p:cNvPr id="10" name="Text 6"/>
          <p:cNvSpPr txBox="1"/>
          <p:nvPr/>
        </p:nvSpPr>
        <p:spPr>
          <a:xfrm>
            <a:off x="1261872" y="3044952"/>
            <a:ext cx="4224528" cy="329184"/>
          </a:xfrm>
          <a:prstGeom prst="rect">
            <a:avLst/>
          </a:prstGeom>
          <a:noFill/>
          <a:ln/>
        </p:spPr>
        <p:txBody>
          <a:bodyPr wrap="square" lIns="0" tIns="0" rIns="0" bIns="0" rtlCol="0" anchor="t"/>
          <a:lstStyle/>
          <a:p>
            <a:pPr indent="0" marL="0">
              <a:buNone/>
            </a:pPr>
            <a:r>
              <a:rPr lang="en-US" sz="1700" b="1" dirty="0">
                <a:solidFill>
                  <a:schemeClr val="tx1"/>
                </a:solidFill>
              </a:rPr>
              <a:t>PostgreSQL 16 + Alembic</a:t>
            </a:r>
            <a:endParaRPr lang="en-US" sz="1700" dirty="0"/>
          </a:p>
        </p:txBody>
      </p:sp>
      <p:sp>
        <p:nvSpPr>
          <p:cNvPr id="11" name="Text 7"/>
          <p:cNvSpPr txBox="1"/>
          <p:nvPr/>
        </p:nvSpPr>
        <p:spPr>
          <a:xfrm>
            <a:off x="1261872" y="3392424"/>
            <a:ext cx="4224528" cy="749808"/>
          </a:xfrm>
          <a:prstGeom prst="rect">
            <a:avLst/>
          </a:prstGeom>
          <a:noFill/>
          <a:ln/>
        </p:spPr>
        <p:txBody>
          <a:bodyPr wrap="square" lIns="0" tIns="0" rIns="0" bIns="0" rtlCol="0" anchor="t"/>
          <a:lstStyle/>
          <a:p>
            <a:pPr indent="0" marL="0">
              <a:buNone/>
            </a:pPr>
            <a:r>
              <a:rPr lang="en-US" sz="1400" dirty="0">
                <a:solidFill>
                  <a:schemeClr val="tx2"/>
                </a:solidFill>
              </a:rPr>
              <a:t>Migration 0001 creates the table with unique and range constraints; an advisory lock stops replicas migrating at once.</a:t>
            </a:r>
            <a:endParaRPr lang="en-US" sz="1400" dirty="0"/>
          </a:p>
        </p:txBody>
      </p:sp>
      <p:sp>
        <p:nvSpPr>
          <p:cNvPr id="12" name="icon circle React dashboard"/>
          <p:cNvSpPr/>
          <p:nvPr/>
        </p:nvSpPr>
        <p:spPr>
          <a:xfrm>
            <a:off x="548640" y="4434840"/>
            <a:ext cx="512064" cy="512064"/>
          </a:xfrm>
          <a:prstGeom prst="ellipse">
            <a:avLst/>
          </a:prstGeom>
          <a:solidFill>
            <a:schemeClr val="accent1"/>
          </a:solidFill>
          <a:ln w="12700">
            <a:solidFill>
              <a:schemeClr val="accent1"/>
            </a:solidFill>
            <a:prstDash val="solid"/>
          </a:ln>
        </p:spPr>
      </p:sp>
      <p:pic>
        <p:nvPicPr>
          <p:cNvPr id="13" name="icon React dashboard" descr="preencoded.png">    </p:cNvPr>
          <p:cNvPicPr>
            <a:picLocks noChangeAspect="1"/>
          </p:cNvPicPr>
          <p:nvPr/>
        </p:nvPicPr>
        <p:blipFill>
          <a:blip r:embed="rId3"/>
          <a:stretch>
            <a:fillRect/>
          </a:stretch>
        </p:blipFill>
        <p:spPr>
          <a:xfrm>
            <a:off x="676656" y="4562856"/>
            <a:ext cx="256032" cy="256032"/>
          </a:xfrm>
          <a:prstGeom prst="rect">
            <a:avLst/>
          </a:prstGeom>
        </p:spPr>
      </p:pic>
      <p:sp>
        <p:nvSpPr>
          <p:cNvPr id="14" name="Text 9"/>
          <p:cNvSpPr txBox="1"/>
          <p:nvPr/>
        </p:nvSpPr>
        <p:spPr>
          <a:xfrm>
            <a:off x="1261872" y="4416552"/>
            <a:ext cx="4224528" cy="329184"/>
          </a:xfrm>
          <a:prstGeom prst="rect">
            <a:avLst/>
          </a:prstGeom>
          <a:noFill/>
          <a:ln/>
        </p:spPr>
        <p:txBody>
          <a:bodyPr wrap="square" lIns="0" tIns="0" rIns="0" bIns="0" rtlCol="0" anchor="t"/>
          <a:lstStyle/>
          <a:p>
            <a:pPr indent="0" marL="0">
              <a:buNone/>
            </a:pPr>
            <a:r>
              <a:rPr lang="en-US" sz="1700" b="1" dirty="0">
                <a:solidFill>
                  <a:schemeClr val="tx1"/>
                </a:solidFill>
              </a:rPr>
              <a:t>React dashboard</a:t>
            </a:r>
            <a:endParaRPr lang="en-US" sz="1700" dirty="0"/>
          </a:p>
        </p:txBody>
      </p:sp>
      <p:sp>
        <p:nvSpPr>
          <p:cNvPr id="15" name="Text 10"/>
          <p:cNvSpPr txBox="1"/>
          <p:nvPr/>
        </p:nvSpPr>
        <p:spPr>
          <a:xfrm>
            <a:off x="1261872" y="4764024"/>
            <a:ext cx="4224528" cy="749808"/>
          </a:xfrm>
          <a:prstGeom prst="rect">
            <a:avLst/>
          </a:prstGeom>
          <a:noFill/>
          <a:ln/>
        </p:spPr>
        <p:txBody>
          <a:bodyPr wrap="square" lIns="0" tIns="0" rIns="0" bIns="0" rtlCol="0" anchor="t"/>
          <a:lstStyle/>
          <a:p>
            <a:pPr indent="0" marL="0">
              <a:buNone/>
            </a:pPr>
            <a:r>
              <a:rPr lang="en-US" sz="1400" dirty="0">
                <a:solidFill>
                  <a:schemeClr val="tx2"/>
                </a:solidFill>
              </a:rPr>
              <a:t>KPIs, a searchable registry, a register form, and one-click Flag drift / Mark verified.</a:t>
            </a:r>
            <a:endParaRPr lang="en-US" sz="1400" dirty="0"/>
          </a:p>
        </p:txBody>
      </p:sp>
      <p:sp>
        <p:nvSpPr>
          <p:cNvPr id="16" name="card 06-api-swagger-docs.png"/>
          <p:cNvSpPr/>
          <p:nvPr/>
        </p:nvSpPr>
        <p:spPr>
          <a:xfrm>
            <a:off x="5760720" y="1600200"/>
            <a:ext cx="5879592" cy="3587384"/>
          </a:xfrm>
          <a:prstGeom prst="roundRect">
            <a:avLst>
              <a:gd name="adj" fmla="val 203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7" name="06-api-swagger-docs.png" descr="Swagger UI at /docs: every endpoint, generated by FastAPI">    </p:cNvPr>
          <p:cNvPicPr>
            <a:picLocks noChangeAspect="1"/>
          </p:cNvPicPr>
          <p:nvPr/>
        </p:nvPicPr>
        <p:blipFill>
          <a:blip r:embed="rId4"/>
          <a:stretch>
            <a:fillRect/>
          </a:stretch>
        </p:blipFill>
        <p:spPr>
          <a:xfrm>
            <a:off x="5824728" y="1664208"/>
            <a:ext cx="5751576" cy="3459368"/>
          </a:xfrm>
          <a:prstGeom prst="rect">
            <a:avLst/>
          </a:prstGeom>
        </p:spPr>
      </p:pic>
      <p:sp>
        <p:nvSpPr>
          <p:cNvPr id="18" name="caption 06-api-swagger-docs.png"/>
          <p:cNvSpPr txBox="1"/>
          <p:nvPr/>
        </p:nvSpPr>
        <p:spPr>
          <a:xfrm>
            <a:off x="5760720" y="5242448"/>
            <a:ext cx="5879592" cy="256032"/>
          </a:xfrm>
          <a:prstGeom prst="rect">
            <a:avLst/>
          </a:prstGeom>
          <a:noFill/>
          <a:ln/>
        </p:spPr>
        <p:txBody>
          <a:bodyPr wrap="square" lIns="0" tIns="0" rIns="0" bIns="0" rtlCol="0" anchor="ctr"/>
          <a:lstStyle/>
          <a:p>
            <a:pPr algn="ctr" indent="0" marL="0">
              <a:buNone/>
            </a:pPr>
            <a:r>
              <a:rPr lang="en-US" sz="1100" i="1" dirty="0">
                <a:solidFill>
                  <a:schemeClr val="accent6"/>
                </a:solidFill>
              </a:rPr>
              <a:t>Swagger UI at /docs: every endpoint, generated by FastAPI</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M2 · TESTING · 10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14 tests guard every build</a:t>
            </a:r>
            <a:endParaRPr lang="en-US" sz="3400" dirty="0"/>
          </a:p>
        </p:txBody>
      </p:sp>
      <p:sp>
        <p:nvSpPr>
          <p:cNvPr id="4" name="stat 14 / 14"/>
          <p:cNvSpPr/>
          <p:nvPr/>
        </p:nvSpPr>
        <p:spPr>
          <a:xfrm>
            <a:off x="548640" y="1645920"/>
            <a:ext cx="3931920" cy="1143000"/>
          </a:xfrm>
          <a:prstGeom prst="roundRect">
            <a:avLst>
              <a:gd name="adj" fmla="val 8000"/>
            </a:avLst>
          </a:prstGeom>
          <a:solidFill>
            <a:schemeClr val="bg2"/>
          </a:solidFill>
          <a:ln w="12700">
            <a:solidFill>
              <a:schemeClr val="bg2"/>
            </a:solidFill>
            <a:prstDash val="solid"/>
          </a:ln>
        </p:spPr>
      </p:sp>
      <p:sp>
        <p:nvSpPr>
          <p:cNvPr id="5" name="Text 3"/>
          <p:cNvSpPr txBox="1"/>
          <p:nvPr/>
        </p:nvSpPr>
        <p:spPr>
          <a:xfrm>
            <a:off x="777240" y="1755648"/>
            <a:ext cx="3474720" cy="594360"/>
          </a:xfrm>
          <a:prstGeom prst="rect">
            <a:avLst/>
          </a:prstGeom>
          <a:noFill/>
          <a:ln/>
        </p:spPr>
        <p:txBody>
          <a:bodyPr wrap="square" lIns="0" tIns="0" rIns="0" bIns="0" rtlCol="0" anchor="ctr"/>
          <a:lstStyle/>
          <a:p>
            <a:pPr indent="0" marL="0">
              <a:buNone/>
            </a:pPr>
            <a:r>
              <a:rPr lang="en-US" sz="4400" b="1" dirty="0">
                <a:solidFill>
                  <a:schemeClr val="accent3"/>
                </a:solidFill>
                <a:latin typeface="Arial" pitchFamily="34" charset="0"/>
                <a:ea typeface="Arial" pitchFamily="34" charset="-122"/>
                <a:cs typeface="Arial" pitchFamily="34" charset="-120"/>
              </a:rPr>
              <a:t>14 / 14</a:t>
            </a:r>
            <a:endParaRPr lang="en-US" sz="4400" dirty="0"/>
          </a:p>
        </p:txBody>
      </p:sp>
      <p:sp>
        <p:nvSpPr>
          <p:cNvPr id="6" name="Text 4"/>
          <p:cNvSpPr txBox="1"/>
          <p:nvPr/>
        </p:nvSpPr>
        <p:spPr>
          <a:xfrm>
            <a:off x="777240" y="2359152"/>
            <a:ext cx="3474720" cy="347472"/>
          </a:xfrm>
          <a:prstGeom prst="rect">
            <a:avLst/>
          </a:prstGeom>
          <a:noFill/>
          <a:ln/>
        </p:spPr>
        <p:txBody>
          <a:bodyPr wrap="square" lIns="0" tIns="0" rIns="0" bIns="0" rtlCol="0" anchor="t"/>
          <a:lstStyle/>
          <a:p>
            <a:pPr indent="0" marL="0">
              <a:buNone/>
            </a:pPr>
            <a:r>
              <a:rPr lang="en-US" sz="1400" dirty="0">
                <a:solidFill>
                  <a:schemeClr val="tx2"/>
                </a:solidFill>
              </a:rPr>
              <a:t>tests passing in 0.39 s</a:t>
            </a:r>
            <a:endParaRPr lang="en-US" sz="1400" dirty="0"/>
          </a:p>
        </p:txBody>
      </p:sp>
      <p:sp>
        <p:nvSpPr>
          <p:cNvPr id="7" name="stat 9"/>
          <p:cNvSpPr/>
          <p:nvPr/>
        </p:nvSpPr>
        <p:spPr>
          <a:xfrm>
            <a:off x="548640" y="2971800"/>
            <a:ext cx="3931920" cy="1143000"/>
          </a:xfrm>
          <a:prstGeom prst="roundRect">
            <a:avLst>
              <a:gd name="adj" fmla="val 8000"/>
            </a:avLst>
          </a:prstGeom>
          <a:solidFill>
            <a:schemeClr val="bg2"/>
          </a:solidFill>
          <a:ln w="12700">
            <a:solidFill>
              <a:schemeClr val="bg2"/>
            </a:solidFill>
            <a:prstDash val="solid"/>
          </a:ln>
        </p:spPr>
      </p:sp>
      <p:sp>
        <p:nvSpPr>
          <p:cNvPr id="8" name="Text 6"/>
          <p:cNvSpPr txBox="1"/>
          <p:nvPr/>
        </p:nvSpPr>
        <p:spPr>
          <a:xfrm>
            <a:off x="777240" y="3081528"/>
            <a:ext cx="3474720" cy="5943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9</a:t>
            </a:r>
            <a:endParaRPr lang="en-US" sz="4400" dirty="0"/>
          </a:p>
        </p:txBody>
      </p:sp>
      <p:sp>
        <p:nvSpPr>
          <p:cNvPr id="9" name="Text 7"/>
          <p:cNvSpPr txBox="1"/>
          <p:nvPr/>
        </p:nvSpPr>
        <p:spPr>
          <a:xfrm>
            <a:off x="777240" y="3685032"/>
            <a:ext cx="3474720" cy="347472"/>
          </a:xfrm>
          <a:prstGeom prst="rect">
            <a:avLst/>
          </a:prstGeom>
          <a:noFill/>
          <a:ln/>
        </p:spPr>
        <p:txBody>
          <a:bodyPr wrap="square" lIns="0" tIns="0" rIns="0" bIns="0" rtlCol="0" anchor="t"/>
          <a:lstStyle/>
          <a:p>
            <a:pPr indent="0" marL="0">
              <a:buNone/>
            </a:pPr>
            <a:r>
              <a:rPr lang="en-US" sz="1400" dirty="0">
                <a:solidFill>
                  <a:schemeClr val="tx2"/>
                </a:solidFill>
              </a:rPr>
              <a:t>endpoints covered, including errors</a:t>
            </a:r>
            <a:endParaRPr lang="en-US" sz="1400" dirty="0"/>
          </a:p>
        </p:txBody>
      </p:sp>
      <p:sp>
        <p:nvSpPr>
          <p:cNvPr id="10" name="stat SQLite"/>
          <p:cNvSpPr/>
          <p:nvPr/>
        </p:nvSpPr>
        <p:spPr>
          <a:xfrm>
            <a:off x="548640" y="4297680"/>
            <a:ext cx="3931920" cy="1143000"/>
          </a:xfrm>
          <a:prstGeom prst="roundRect">
            <a:avLst>
              <a:gd name="adj" fmla="val 8000"/>
            </a:avLst>
          </a:prstGeom>
          <a:solidFill>
            <a:schemeClr val="bg2"/>
          </a:solidFill>
          <a:ln w="12700">
            <a:solidFill>
              <a:schemeClr val="bg2"/>
            </a:solidFill>
            <a:prstDash val="solid"/>
          </a:ln>
        </p:spPr>
      </p:sp>
      <p:sp>
        <p:nvSpPr>
          <p:cNvPr id="11" name="Text 9"/>
          <p:cNvSpPr txBox="1"/>
          <p:nvPr/>
        </p:nvSpPr>
        <p:spPr>
          <a:xfrm>
            <a:off x="777240" y="4407408"/>
            <a:ext cx="3474720" cy="594360"/>
          </a:xfrm>
          <a:prstGeom prst="rect">
            <a:avLst/>
          </a:prstGeom>
          <a:noFill/>
          <a:ln/>
        </p:spPr>
        <p:txBody>
          <a:bodyPr wrap="square" lIns="0" tIns="0" rIns="0" bIns="0" rtlCol="0" anchor="ctr"/>
          <a:lstStyle/>
          <a:p>
            <a:pPr indent="0" marL="0">
              <a:buNone/>
            </a:pPr>
            <a:r>
              <a:rPr lang="en-US" sz="4400" b="1" dirty="0">
                <a:solidFill>
                  <a:schemeClr val="accent4"/>
                </a:solidFill>
                <a:latin typeface="Arial" pitchFamily="34" charset="0"/>
                <a:ea typeface="Arial" pitchFamily="34" charset="-122"/>
                <a:cs typeface="Arial" pitchFamily="34" charset="-120"/>
              </a:rPr>
              <a:t>SQLite</a:t>
            </a:r>
            <a:endParaRPr lang="en-US" sz="4400" dirty="0"/>
          </a:p>
        </p:txBody>
      </p:sp>
      <p:sp>
        <p:nvSpPr>
          <p:cNvPr id="12" name="Text 10"/>
          <p:cNvSpPr txBox="1"/>
          <p:nvPr/>
        </p:nvSpPr>
        <p:spPr>
          <a:xfrm>
            <a:off x="777240" y="5010912"/>
            <a:ext cx="3474720" cy="347472"/>
          </a:xfrm>
          <a:prstGeom prst="rect">
            <a:avLst/>
          </a:prstGeom>
          <a:noFill/>
          <a:ln/>
        </p:spPr>
        <p:txBody>
          <a:bodyPr wrap="square" lIns="0" tIns="0" rIns="0" bIns="0" rtlCol="0" anchor="t"/>
          <a:lstStyle/>
          <a:p>
            <a:pPr indent="0" marL="0">
              <a:buNone/>
            </a:pPr>
            <a:r>
              <a:rPr lang="en-US" sz="1400" dirty="0">
                <a:solidFill>
                  <a:schemeClr val="tx2"/>
                </a:solidFill>
              </a:rPr>
              <a:t>throwaway test database, never Postgres</a:t>
            </a:r>
            <a:endParaRPr lang="en-US" sz="1400" dirty="0"/>
          </a:p>
        </p:txBody>
      </p:sp>
      <p:sp>
        <p:nvSpPr>
          <p:cNvPr id="13" name="Text 11"/>
          <p:cNvSpPr txBox="1"/>
          <p:nvPr/>
        </p:nvSpPr>
        <p:spPr>
          <a:xfrm>
            <a:off x="548640" y="5577840"/>
            <a:ext cx="3931920" cy="640080"/>
          </a:xfrm>
          <a:prstGeom prst="rect">
            <a:avLst/>
          </a:prstGeom>
          <a:noFill/>
          <a:ln/>
        </p:spPr>
        <p:txBody>
          <a:bodyPr wrap="square" lIns="0" tIns="0" rIns="0" bIns="0" rtlCol="0" anchor="t"/>
          <a:lstStyle/>
          <a:p>
            <a:pPr indent="0" marL="0">
              <a:buNone/>
            </a:pPr>
            <a:r>
              <a:rPr lang="en-US" sz="1400" dirty="0">
                <a:solidFill>
                  <a:schemeClr val="tx2"/>
                </a:solidFill>
              </a:rPr>
              <a:t>ruff and pytest run first in CI: a failing test stops the pipeline before any image is built.</a:t>
            </a:r>
            <a:endParaRPr lang="en-US" sz="1400" dirty="0"/>
          </a:p>
        </p:txBody>
      </p:sp>
      <p:sp>
        <p:nvSpPr>
          <p:cNvPr id="14" name="card 11-ruff-pytest.png"/>
          <p:cNvSpPr/>
          <p:nvPr/>
        </p:nvSpPr>
        <p:spPr>
          <a:xfrm>
            <a:off x="4846320" y="1645920"/>
            <a:ext cx="6793992" cy="3730494"/>
          </a:xfrm>
          <a:prstGeom prst="roundRect">
            <a:avLst>
              <a:gd name="adj" fmla="val 1961"/>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5" name="11-ruff-pytest.png" descr="ruff check, ruff format --check and pytest -v">    </p:cNvPr>
          <p:cNvPicPr>
            <a:picLocks noChangeAspect="1"/>
          </p:cNvPicPr>
          <p:nvPr/>
        </p:nvPicPr>
        <p:blipFill>
          <a:blip r:embed="rId1"/>
          <a:stretch>
            <a:fillRect/>
          </a:stretch>
        </p:blipFill>
        <p:spPr>
          <a:xfrm>
            <a:off x="4910328" y="1709928"/>
            <a:ext cx="6665976" cy="3602478"/>
          </a:xfrm>
          <a:prstGeom prst="rect">
            <a:avLst/>
          </a:prstGeom>
        </p:spPr>
      </p:pic>
      <p:sp>
        <p:nvSpPr>
          <p:cNvPr id="16" name="caption 11-ruff-pytest.png"/>
          <p:cNvSpPr txBox="1"/>
          <p:nvPr/>
        </p:nvSpPr>
        <p:spPr>
          <a:xfrm>
            <a:off x="4846320" y="5431278"/>
            <a:ext cx="6793992" cy="256032"/>
          </a:xfrm>
          <a:prstGeom prst="rect">
            <a:avLst/>
          </a:prstGeom>
          <a:noFill/>
          <a:ln/>
        </p:spPr>
        <p:txBody>
          <a:bodyPr wrap="square" lIns="0" tIns="0" rIns="0" bIns="0" rtlCol="0" anchor="ctr"/>
          <a:lstStyle/>
          <a:p>
            <a:pPr algn="ctr" indent="0" marL="0">
              <a:buNone/>
            </a:pPr>
            <a:r>
              <a:rPr lang="en-US" sz="1100" i="1" dirty="0">
                <a:solidFill>
                  <a:schemeClr val="accent6"/>
                </a:solidFill>
              </a:rPr>
              <a:t>ruff check, ruff format --check and pytest -v</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M3 · GIT AND GITHUB · 5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One commit per step, in the open</a:t>
            </a:r>
            <a:endParaRPr lang="en-US" sz="3400" dirty="0"/>
          </a:p>
        </p:txBody>
      </p:sp>
      <p:sp>
        <p:nvSpPr>
          <p:cNvPr id="4" name="card 12-git-log.png"/>
          <p:cNvSpPr/>
          <p:nvPr/>
        </p:nvSpPr>
        <p:spPr>
          <a:xfrm>
            <a:off x="548640" y="1645920"/>
            <a:ext cx="6035040" cy="3409696"/>
          </a:xfrm>
          <a:prstGeom prst="roundRect">
            <a:avLst>
              <a:gd name="adj" fmla="val 2145"/>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5" name="12-git-log.png" descr="git log: each commit is one logical step">    </p:cNvPr>
          <p:cNvPicPr>
            <a:picLocks noChangeAspect="1"/>
          </p:cNvPicPr>
          <p:nvPr/>
        </p:nvPicPr>
        <p:blipFill>
          <a:blip r:embed="rId1"/>
          <a:stretch>
            <a:fillRect/>
          </a:stretch>
        </p:blipFill>
        <p:spPr>
          <a:xfrm>
            <a:off x="612648" y="1709928"/>
            <a:ext cx="5907024" cy="3281680"/>
          </a:xfrm>
          <a:prstGeom prst="rect">
            <a:avLst/>
          </a:prstGeom>
        </p:spPr>
      </p:pic>
      <p:sp>
        <p:nvSpPr>
          <p:cNvPr id="6" name="caption 12-git-log.png"/>
          <p:cNvSpPr txBox="1"/>
          <p:nvPr/>
        </p:nvSpPr>
        <p:spPr>
          <a:xfrm>
            <a:off x="548640" y="5110480"/>
            <a:ext cx="6035040" cy="256032"/>
          </a:xfrm>
          <a:prstGeom prst="rect">
            <a:avLst/>
          </a:prstGeom>
          <a:noFill/>
          <a:ln/>
        </p:spPr>
        <p:txBody>
          <a:bodyPr wrap="square" lIns="0" tIns="0" rIns="0" bIns="0" rtlCol="0" anchor="ctr"/>
          <a:lstStyle/>
          <a:p>
            <a:pPr algn="l" indent="0" marL="0">
              <a:buNone/>
            </a:pPr>
            <a:r>
              <a:rPr lang="en-US" sz="1100" i="1" dirty="0">
                <a:solidFill>
                  <a:schemeClr val="accent6"/>
                </a:solidFill>
              </a:rPr>
              <a:t>git log: each commit is one logical step</a:t>
            </a:r>
            <a:endParaRPr lang="en-US" sz="1100" dirty="0"/>
          </a:p>
        </p:txBody>
      </p:sp>
      <p:sp>
        <p:nvSpPr>
          <p:cNvPr id="7" name="icon circle Public repository"/>
          <p:cNvSpPr/>
          <p:nvPr/>
        </p:nvSpPr>
        <p:spPr>
          <a:xfrm>
            <a:off x="6949440" y="1783080"/>
            <a:ext cx="512064" cy="512064"/>
          </a:xfrm>
          <a:prstGeom prst="ellipse">
            <a:avLst/>
          </a:prstGeom>
          <a:solidFill>
            <a:schemeClr val="accent1"/>
          </a:solidFill>
          <a:ln w="12700">
            <a:solidFill>
              <a:schemeClr val="accent1"/>
            </a:solidFill>
            <a:prstDash val="solid"/>
          </a:ln>
        </p:spPr>
      </p:sp>
      <p:pic>
        <p:nvPicPr>
          <p:cNvPr id="8" name="icon Public repository" descr="preencoded.png">    </p:cNvPr>
          <p:cNvPicPr>
            <a:picLocks noChangeAspect="1"/>
          </p:cNvPicPr>
          <p:nvPr/>
        </p:nvPicPr>
        <p:blipFill>
          <a:blip r:embed="rId2"/>
          <a:stretch>
            <a:fillRect/>
          </a:stretch>
        </p:blipFill>
        <p:spPr>
          <a:xfrm>
            <a:off x="7077456" y="1911096"/>
            <a:ext cx="256032" cy="256032"/>
          </a:xfrm>
          <a:prstGeom prst="rect">
            <a:avLst/>
          </a:prstGeom>
        </p:spPr>
      </p:pic>
      <p:sp>
        <p:nvSpPr>
          <p:cNvPr id="9" name="Text 5"/>
          <p:cNvSpPr txBox="1"/>
          <p:nvPr/>
        </p:nvSpPr>
        <p:spPr>
          <a:xfrm>
            <a:off x="7662672" y="1764792"/>
            <a:ext cx="3977640" cy="329184"/>
          </a:xfrm>
          <a:prstGeom prst="rect">
            <a:avLst/>
          </a:prstGeom>
          <a:noFill/>
          <a:ln/>
        </p:spPr>
        <p:txBody>
          <a:bodyPr wrap="square" lIns="0" tIns="0" rIns="0" bIns="0" rtlCol="0" anchor="t"/>
          <a:lstStyle/>
          <a:p>
            <a:pPr indent="0" marL="0">
              <a:buNone/>
            </a:pPr>
            <a:r>
              <a:rPr lang="en-US" sz="1700" b="1" dirty="0">
                <a:solidFill>
                  <a:schemeClr val="tx1"/>
                </a:solidFill>
              </a:rPr>
              <a:t>Public repository</a:t>
            </a:r>
            <a:endParaRPr lang="en-US" sz="1700" dirty="0"/>
          </a:p>
        </p:txBody>
      </p:sp>
      <p:sp>
        <p:nvSpPr>
          <p:cNvPr id="10" name="Text 6"/>
          <p:cNvSpPr txBox="1"/>
          <p:nvPr/>
        </p:nvSpPr>
        <p:spPr>
          <a:xfrm>
            <a:off x="7662672" y="2112264"/>
            <a:ext cx="3977640" cy="749808"/>
          </a:xfrm>
          <a:prstGeom prst="rect">
            <a:avLst/>
          </a:prstGeom>
          <a:noFill/>
          <a:ln/>
        </p:spPr>
        <p:txBody>
          <a:bodyPr wrap="square" lIns="0" tIns="0" rIns="0" bIns="0" rtlCol="0" anchor="t"/>
          <a:lstStyle/>
          <a:p>
            <a:pPr indent="0" marL="0">
              <a:buNone/>
            </a:pPr>
            <a:r>
              <a:rPr lang="en-US" sz="1400" dirty="0">
                <a:solidFill>
                  <a:schemeClr val="tx2"/>
                </a:solidFill>
              </a:rPr>
              <a:t>github.com/KavyaDhyani/datadrift-capstone</a:t>
            </a:r>
            <a:endParaRPr lang="en-US" sz="1400" dirty="0"/>
          </a:p>
        </p:txBody>
      </p:sp>
      <p:sp>
        <p:nvSpPr>
          <p:cNvPr id="11" name="icon circle 23 descriptive commits"/>
          <p:cNvSpPr/>
          <p:nvPr/>
        </p:nvSpPr>
        <p:spPr>
          <a:xfrm>
            <a:off x="6949440" y="3063240"/>
            <a:ext cx="512064" cy="512064"/>
          </a:xfrm>
          <a:prstGeom prst="ellipse">
            <a:avLst/>
          </a:prstGeom>
          <a:solidFill>
            <a:schemeClr val="accent1"/>
          </a:solidFill>
          <a:ln w="12700">
            <a:solidFill>
              <a:schemeClr val="accent1"/>
            </a:solidFill>
            <a:prstDash val="solid"/>
          </a:ln>
        </p:spPr>
      </p:sp>
      <p:pic>
        <p:nvPicPr>
          <p:cNvPr id="12" name="icon 23 descriptive commits" descr="preencoded.png">    </p:cNvPr>
          <p:cNvPicPr>
            <a:picLocks noChangeAspect="1"/>
          </p:cNvPicPr>
          <p:nvPr/>
        </p:nvPicPr>
        <p:blipFill>
          <a:blip r:embed="rId3"/>
          <a:stretch>
            <a:fillRect/>
          </a:stretch>
        </p:blipFill>
        <p:spPr>
          <a:xfrm>
            <a:off x="7077456" y="3191256"/>
            <a:ext cx="256032" cy="256032"/>
          </a:xfrm>
          <a:prstGeom prst="rect">
            <a:avLst/>
          </a:prstGeom>
        </p:spPr>
      </p:pic>
      <p:sp>
        <p:nvSpPr>
          <p:cNvPr id="13" name="Text 8"/>
          <p:cNvSpPr txBox="1"/>
          <p:nvPr/>
        </p:nvSpPr>
        <p:spPr>
          <a:xfrm>
            <a:off x="7662672" y="3044952"/>
            <a:ext cx="3977640" cy="329184"/>
          </a:xfrm>
          <a:prstGeom prst="rect">
            <a:avLst/>
          </a:prstGeom>
          <a:noFill/>
          <a:ln/>
        </p:spPr>
        <p:txBody>
          <a:bodyPr wrap="square" lIns="0" tIns="0" rIns="0" bIns="0" rtlCol="0" anchor="t"/>
          <a:lstStyle/>
          <a:p>
            <a:pPr indent="0" marL="0">
              <a:buNone/>
            </a:pPr>
            <a:r>
              <a:rPr lang="en-US" sz="1700" b="1" dirty="0">
                <a:solidFill>
                  <a:schemeClr val="tx1"/>
                </a:solidFill>
              </a:rPr>
              <a:t>23 descriptive commits</a:t>
            </a:r>
            <a:endParaRPr lang="en-US" sz="1700" dirty="0"/>
          </a:p>
        </p:txBody>
      </p:sp>
      <p:sp>
        <p:nvSpPr>
          <p:cNvPr id="14" name="Text 9"/>
          <p:cNvSpPr txBox="1"/>
          <p:nvPr/>
        </p:nvSpPr>
        <p:spPr>
          <a:xfrm>
            <a:off x="7662672" y="3392424"/>
            <a:ext cx="3977640" cy="749808"/>
          </a:xfrm>
          <a:prstGeom prst="rect">
            <a:avLst/>
          </a:prstGeom>
          <a:noFill/>
          <a:ln/>
        </p:spPr>
        <p:txBody>
          <a:bodyPr wrap="square" lIns="0" tIns="0" rIns="0" bIns="0" rtlCol="0" anchor="t"/>
          <a:lstStyle/>
          <a:p>
            <a:pPr indent="0" marL="0">
              <a:buNone/>
            </a:pPr>
            <a:r>
              <a:rPr lang="en-US" sz="1400" dirty="0">
                <a:solidFill>
                  <a:schemeClr val="tx2"/>
                </a:solidFill>
              </a:rPr>
              <a:t>Each message says what changed: no “update” or “fix”.</a:t>
            </a:r>
            <a:endParaRPr lang="en-US" sz="1400" dirty="0"/>
          </a:p>
        </p:txBody>
      </p:sp>
      <p:sp>
        <p:nvSpPr>
          <p:cNvPr id="15" name="icon circle Secrets stay out"/>
          <p:cNvSpPr/>
          <p:nvPr/>
        </p:nvSpPr>
        <p:spPr>
          <a:xfrm>
            <a:off x="6949440" y="4343400"/>
            <a:ext cx="512064" cy="512064"/>
          </a:xfrm>
          <a:prstGeom prst="ellipse">
            <a:avLst/>
          </a:prstGeom>
          <a:solidFill>
            <a:schemeClr val="accent1"/>
          </a:solidFill>
          <a:ln w="12700">
            <a:solidFill>
              <a:schemeClr val="accent1"/>
            </a:solidFill>
            <a:prstDash val="solid"/>
          </a:ln>
        </p:spPr>
      </p:sp>
      <p:pic>
        <p:nvPicPr>
          <p:cNvPr id="16" name="icon Secrets stay out" descr="preencoded.png">    </p:cNvPr>
          <p:cNvPicPr>
            <a:picLocks noChangeAspect="1"/>
          </p:cNvPicPr>
          <p:nvPr/>
        </p:nvPicPr>
        <p:blipFill>
          <a:blip r:embed="rId4"/>
          <a:stretch>
            <a:fillRect/>
          </a:stretch>
        </p:blipFill>
        <p:spPr>
          <a:xfrm>
            <a:off x="7077456" y="4471416"/>
            <a:ext cx="256032" cy="256032"/>
          </a:xfrm>
          <a:prstGeom prst="rect">
            <a:avLst/>
          </a:prstGeom>
        </p:spPr>
      </p:pic>
      <p:sp>
        <p:nvSpPr>
          <p:cNvPr id="17" name="Text 11"/>
          <p:cNvSpPr txBox="1"/>
          <p:nvPr/>
        </p:nvSpPr>
        <p:spPr>
          <a:xfrm>
            <a:off x="7662672" y="4325112"/>
            <a:ext cx="3977640" cy="329184"/>
          </a:xfrm>
          <a:prstGeom prst="rect">
            <a:avLst/>
          </a:prstGeom>
          <a:noFill/>
          <a:ln/>
        </p:spPr>
        <p:txBody>
          <a:bodyPr wrap="square" lIns="0" tIns="0" rIns="0" bIns="0" rtlCol="0" anchor="t"/>
          <a:lstStyle/>
          <a:p>
            <a:pPr indent="0" marL="0">
              <a:buNone/>
            </a:pPr>
            <a:r>
              <a:rPr lang="en-US" sz="1700" b="1" dirty="0">
                <a:solidFill>
                  <a:schemeClr val="tx1"/>
                </a:solidFill>
              </a:rPr>
              <a:t>Secrets stay out</a:t>
            </a:r>
            <a:endParaRPr lang="en-US" sz="1700" dirty="0"/>
          </a:p>
        </p:txBody>
      </p:sp>
      <p:sp>
        <p:nvSpPr>
          <p:cNvPr id="18" name="Text 12"/>
          <p:cNvSpPr txBox="1"/>
          <p:nvPr/>
        </p:nvSpPr>
        <p:spPr>
          <a:xfrm>
            <a:off x="7662672" y="4672584"/>
            <a:ext cx="3977640" cy="749808"/>
          </a:xfrm>
          <a:prstGeom prst="rect">
            <a:avLst/>
          </a:prstGeom>
          <a:noFill/>
          <a:ln/>
        </p:spPr>
        <p:txBody>
          <a:bodyPr wrap="square" lIns="0" tIns="0" rIns="0" bIns="0" rtlCol="0" anchor="t"/>
          <a:lstStyle/>
          <a:p>
            <a:pPr indent="0" marL="0">
              <a:buNone/>
            </a:pPr>
            <a:r>
              <a:rPr lang="en-US" sz="1400" dirty="0">
                <a:solidFill>
                  <a:schemeClr val="tx2"/>
                </a:solidFill>
              </a:rPr>
              <a:t>.gitignore covers .env, .venv, __pycache__, node_modules, kubeconfig, *.tfstate and *.tfvars.</a:t>
            </a:r>
            <a:endParaRPr lang="en-US" sz="14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M4 · DOCKER · 10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Small, non-root images</a:t>
            </a:r>
            <a:endParaRPr lang="en-US" sz="3400" dirty="0"/>
          </a:p>
        </p:txBody>
      </p:sp>
      <p:sp>
        <p:nvSpPr>
          <p:cNvPr id="4" name="icon circle Backend image"/>
          <p:cNvSpPr/>
          <p:nvPr/>
        </p:nvSpPr>
        <p:spPr>
          <a:xfrm>
            <a:off x="548640" y="1691640"/>
            <a:ext cx="512064" cy="512064"/>
          </a:xfrm>
          <a:prstGeom prst="ellipse">
            <a:avLst/>
          </a:prstGeom>
          <a:solidFill>
            <a:schemeClr val="accent1"/>
          </a:solidFill>
          <a:ln w="12700">
            <a:solidFill>
              <a:schemeClr val="accent1"/>
            </a:solidFill>
            <a:prstDash val="solid"/>
          </a:ln>
        </p:spPr>
      </p:sp>
      <p:pic>
        <p:nvPicPr>
          <p:cNvPr id="5" name="icon Backend image" descr="preencoded.png">    </p:cNvPr>
          <p:cNvPicPr>
            <a:picLocks noChangeAspect="1"/>
          </p:cNvPicPr>
          <p:nvPr/>
        </p:nvPicPr>
        <p:blipFill>
          <a:blip r:embed="rId1"/>
          <a:stretch>
            <a:fillRect/>
          </a:stretch>
        </p:blipFill>
        <p:spPr>
          <a:xfrm>
            <a:off x="676656" y="1819656"/>
            <a:ext cx="256032" cy="256032"/>
          </a:xfrm>
          <a:prstGeom prst="rect">
            <a:avLst/>
          </a:prstGeom>
        </p:spPr>
      </p:pic>
      <p:sp>
        <p:nvSpPr>
          <p:cNvPr id="6" name="Text 3"/>
          <p:cNvSpPr txBox="1"/>
          <p:nvPr/>
        </p:nvSpPr>
        <p:spPr>
          <a:xfrm>
            <a:off x="1261872" y="1673352"/>
            <a:ext cx="4407408" cy="329184"/>
          </a:xfrm>
          <a:prstGeom prst="rect">
            <a:avLst/>
          </a:prstGeom>
          <a:noFill/>
          <a:ln/>
        </p:spPr>
        <p:txBody>
          <a:bodyPr wrap="square" lIns="0" tIns="0" rIns="0" bIns="0" rtlCol="0" anchor="t"/>
          <a:lstStyle/>
          <a:p>
            <a:pPr indent="0" marL="0">
              <a:buNone/>
            </a:pPr>
            <a:r>
              <a:rPr lang="en-US" sz="1700" b="1" dirty="0">
                <a:solidFill>
                  <a:schemeClr val="tx1"/>
                </a:solidFill>
              </a:rPr>
              <a:t>Backend image</a:t>
            </a:r>
            <a:endParaRPr lang="en-US" sz="1700" dirty="0"/>
          </a:p>
        </p:txBody>
      </p:sp>
      <p:sp>
        <p:nvSpPr>
          <p:cNvPr id="7" name="Text 4"/>
          <p:cNvSpPr txBox="1"/>
          <p:nvPr/>
        </p:nvSpPr>
        <p:spPr>
          <a:xfrm>
            <a:off x="1261872" y="2020824"/>
            <a:ext cx="4407408" cy="749808"/>
          </a:xfrm>
          <a:prstGeom prst="rect">
            <a:avLst/>
          </a:prstGeom>
          <a:noFill/>
          <a:ln/>
        </p:spPr>
        <p:txBody>
          <a:bodyPr wrap="square" lIns="0" tIns="0" rIns="0" bIns="0" rtlCol="0" anchor="t"/>
          <a:lstStyle/>
          <a:p>
            <a:pPr indent="0" marL="0">
              <a:buNone/>
            </a:pPr>
            <a:r>
              <a:rPr lang="en-US" sz="1400" dirty="0">
                <a:solidFill>
                  <a:schemeClr val="tx2"/>
                </a:solidFill>
              </a:rPr>
              <a:t>python:3.12-slim, runs as uid 10001, pip and setuptools removed, built-in health check.</a:t>
            </a:r>
            <a:endParaRPr lang="en-US" sz="1400" dirty="0"/>
          </a:p>
        </p:txBody>
      </p:sp>
      <p:sp>
        <p:nvSpPr>
          <p:cNvPr id="8" name="icon circle Multi-stage frontend"/>
          <p:cNvSpPr/>
          <p:nvPr/>
        </p:nvSpPr>
        <p:spPr>
          <a:xfrm>
            <a:off x="548640" y="2788920"/>
            <a:ext cx="512064" cy="512064"/>
          </a:xfrm>
          <a:prstGeom prst="ellipse">
            <a:avLst/>
          </a:prstGeom>
          <a:solidFill>
            <a:schemeClr val="accent1"/>
          </a:solidFill>
          <a:ln w="12700">
            <a:solidFill>
              <a:schemeClr val="accent1"/>
            </a:solidFill>
            <a:prstDash val="solid"/>
          </a:ln>
        </p:spPr>
      </p:sp>
      <p:pic>
        <p:nvPicPr>
          <p:cNvPr id="9" name="icon Multi-stage frontend" descr="preencoded.png">    </p:cNvPr>
          <p:cNvPicPr>
            <a:picLocks noChangeAspect="1"/>
          </p:cNvPicPr>
          <p:nvPr/>
        </p:nvPicPr>
        <p:blipFill>
          <a:blip r:embed="rId2"/>
          <a:stretch>
            <a:fillRect/>
          </a:stretch>
        </p:blipFill>
        <p:spPr>
          <a:xfrm>
            <a:off x="676656" y="2916936"/>
            <a:ext cx="256032" cy="256032"/>
          </a:xfrm>
          <a:prstGeom prst="rect">
            <a:avLst/>
          </a:prstGeom>
        </p:spPr>
      </p:pic>
      <p:sp>
        <p:nvSpPr>
          <p:cNvPr id="10" name="Text 6"/>
          <p:cNvSpPr txBox="1"/>
          <p:nvPr/>
        </p:nvSpPr>
        <p:spPr>
          <a:xfrm>
            <a:off x="1261872" y="2770632"/>
            <a:ext cx="4407408" cy="329184"/>
          </a:xfrm>
          <a:prstGeom prst="rect">
            <a:avLst/>
          </a:prstGeom>
          <a:noFill/>
          <a:ln/>
        </p:spPr>
        <p:txBody>
          <a:bodyPr wrap="square" lIns="0" tIns="0" rIns="0" bIns="0" rtlCol="0" anchor="t"/>
          <a:lstStyle/>
          <a:p>
            <a:pPr indent="0" marL="0">
              <a:buNone/>
            </a:pPr>
            <a:r>
              <a:rPr lang="en-US" sz="1700" b="1" dirty="0">
                <a:solidFill>
                  <a:schemeClr val="tx1"/>
                </a:solidFill>
              </a:rPr>
              <a:t>Multi-stage frontend</a:t>
            </a:r>
            <a:endParaRPr lang="en-US" sz="1700" dirty="0"/>
          </a:p>
        </p:txBody>
      </p:sp>
      <p:sp>
        <p:nvSpPr>
          <p:cNvPr id="11" name="Text 7"/>
          <p:cNvSpPr txBox="1"/>
          <p:nvPr/>
        </p:nvSpPr>
        <p:spPr>
          <a:xfrm>
            <a:off x="1261872" y="3118104"/>
            <a:ext cx="4407408" cy="749808"/>
          </a:xfrm>
          <a:prstGeom prst="rect">
            <a:avLst/>
          </a:prstGeom>
          <a:noFill/>
          <a:ln/>
        </p:spPr>
        <p:txBody>
          <a:bodyPr wrap="square" lIns="0" tIns="0" rIns="0" bIns="0" rtlCol="0" anchor="t"/>
          <a:lstStyle/>
          <a:p>
            <a:pPr indent="0" marL="0">
              <a:buNone/>
            </a:pPr>
            <a:r>
              <a:rPr lang="en-US" sz="1400" dirty="0">
                <a:solidFill>
                  <a:schemeClr val="tx2"/>
                </a:solidFill>
              </a:rPr>
              <a:t>node:22-alpine builds the React app; nginx-unprivileged serves it as uid 101 on port 8080.</a:t>
            </a:r>
            <a:endParaRPr lang="en-US" sz="1400" dirty="0"/>
          </a:p>
        </p:txBody>
      </p:sp>
      <p:sp>
        <p:nvSpPr>
          <p:cNvPr id="12" name="icon circle One-command stack"/>
          <p:cNvSpPr/>
          <p:nvPr/>
        </p:nvSpPr>
        <p:spPr>
          <a:xfrm>
            <a:off x="548640" y="3886200"/>
            <a:ext cx="512064" cy="512064"/>
          </a:xfrm>
          <a:prstGeom prst="ellipse">
            <a:avLst/>
          </a:prstGeom>
          <a:solidFill>
            <a:schemeClr val="accent1"/>
          </a:solidFill>
          <a:ln w="12700">
            <a:solidFill>
              <a:schemeClr val="accent1"/>
            </a:solidFill>
            <a:prstDash val="solid"/>
          </a:ln>
        </p:spPr>
      </p:sp>
      <p:pic>
        <p:nvPicPr>
          <p:cNvPr id="13" name="icon One-command stack" descr="preencoded.png">    </p:cNvPr>
          <p:cNvPicPr>
            <a:picLocks noChangeAspect="1"/>
          </p:cNvPicPr>
          <p:nvPr/>
        </p:nvPicPr>
        <p:blipFill>
          <a:blip r:embed="rId3"/>
          <a:stretch>
            <a:fillRect/>
          </a:stretch>
        </p:blipFill>
        <p:spPr>
          <a:xfrm>
            <a:off x="676656" y="4014216"/>
            <a:ext cx="256032" cy="256032"/>
          </a:xfrm>
          <a:prstGeom prst="rect">
            <a:avLst/>
          </a:prstGeom>
        </p:spPr>
      </p:pic>
      <p:sp>
        <p:nvSpPr>
          <p:cNvPr id="14" name="Text 9"/>
          <p:cNvSpPr txBox="1"/>
          <p:nvPr/>
        </p:nvSpPr>
        <p:spPr>
          <a:xfrm>
            <a:off x="1261872" y="3867912"/>
            <a:ext cx="4407408" cy="329184"/>
          </a:xfrm>
          <a:prstGeom prst="rect">
            <a:avLst/>
          </a:prstGeom>
          <a:noFill/>
          <a:ln/>
        </p:spPr>
        <p:txBody>
          <a:bodyPr wrap="square" lIns="0" tIns="0" rIns="0" bIns="0" rtlCol="0" anchor="t"/>
          <a:lstStyle/>
          <a:p>
            <a:pPr indent="0" marL="0">
              <a:buNone/>
            </a:pPr>
            <a:r>
              <a:rPr lang="en-US" sz="1700" b="1" dirty="0">
                <a:solidFill>
                  <a:schemeClr val="tx1"/>
                </a:solidFill>
              </a:rPr>
              <a:t>One-command stack</a:t>
            </a:r>
            <a:endParaRPr lang="en-US" sz="1700" dirty="0"/>
          </a:p>
        </p:txBody>
      </p:sp>
      <p:sp>
        <p:nvSpPr>
          <p:cNvPr id="15" name="Text 10"/>
          <p:cNvSpPr txBox="1"/>
          <p:nvPr/>
        </p:nvSpPr>
        <p:spPr>
          <a:xfrm>
            <a:off x="1261872" y="4215384"/>
            <a:ext cx="4407408" cy="749808"/>
          </a:xfrm>
          <a:prstGeom prst="rect">
            <a:avLst/>
          </a:prstGeom>
          <a:noFill/>
          <a:ln/>
        </p:spPr>
        <p:txBody>
          <a:bodyPr wrap="square" lIns="0" tIns="0" rIns="0" bIns="0" rtlCol="0" anchor="t"/>
          <a:lstStyle/>
          <a:p>
            <a:pPr indent="0" marL="0">
              <a:buNone/>
            </a:pPr>
            <a:r>
              <a:rPr lang="en-US" sz="1400" dirty="0">
                <a:solidFill>
                  <a:schemeClr val="tx2"/>
                </a:solidFill>
              </a:rPr>
              <a:t>docker compose up --build starts Postgres, then the backend (after migrating), then the frontend.</a:t>
            </a:r>
            <a:endParaRPr lang="en-US" sz="1400" dirty="0"/>
          </a:p>
        </p:txBody>
      </p:sp>
      <p:sp>
        <p:nvSpPr>
          <p:cNvPr id="16" name="card 10-docker-non-root.png"/>
          <p:cNvSpPr/>
          <p:nvPr/>
        </p:nvSpPr>
        <p:spPr>
          <a:xfrm>
            <a:off x="548640" y="5029200"/>
            <a:ext cx="4758413" cy="1234440"/>
          </a:xfrm>
          <a:prstGeom prst="roundRect">
            <a:avLst>
              <a:gd name="adj" fmla="val 5926"/>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7" name="10-docker-non-root.png" descr="10-docker-non-root.png">    </p:cNvPr>
          <p:cNvPicPr>
            <a:picLocks noChangeAspect="1"/>
          </p:cNvPicPr>
          <p:nvPr/>
        </p:nvPicPr>
        <p:blipFill>
          <a:blip r:embed="rId4"/>
          <a:stretch>
            <a:fillRect/>
          </a:stretch>
        </p:blipFill>
        <p:spPr>
          <a:xfrm>
            <a:off x="612648" y="5093208"/>
            <a:ext cx="4630397" cy="1106424"/>
          </a:xfrm>
          <a:prstGeom prst="rect">
            <a:avLst/>
          </a:prstGeom>
        </p:spPr>
      </p:pic>
      <p:sp>
        <p:nvSpPr>
          <p:cNvPr id="18" name="card 01-compose-up-build.png"/>
          <p:cNvSpPr/>
          <p:nvPr/>
        </p:nvSpPr>
        <p:spPr>
          <a:xfrm>
            <a:off x="6102326" y="1600200"/>
            <a:ext cx="5470699" cy="4261104"/>
          </a:xfrm>
          <a:prstGeom prst="roundRect">
            <a:avLst>
              <a:gd name="adj" fmla="val 1717"/>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9" name="01-compose-up-build.png" descr="docker compose up --build: all three services healthy">    </p:cNvPr>
          <p:cNvPicPr>
            <a:picLocks noChangeAspect="1"/>
          </p:cNvPicPr>
          <p:nvPr/>
        </p:nvPicPr>
        <p:blipFill>
          <a:blip r:embed="rId5"/>
          <a:stretch>
            <a:fillRect/>
          </a:stretch>
        </p:blipFill>
        <p:spPr>
          <a:xfrm>
            <a:off x="6166334" y="1664208"/>
            <a:ext cx="5342683" cy="4133088"/>
          </a:xfrm>
          <a:prstGeom prst="rect">
            <a:avLst/>
          </a:prstGeom>
        </p:spPr>
      </p:pic>
      <p:sp>
        <p:nvSpPr>
          <p:cNvPr id="20" name="caption 01-compose-up-build.png"/>
          <p:cNvSpPr txBox="1"/>
          <p:nvPr/>
        </p:nvSpPr>
        <p:spPr>
          <a:xfrm>
            <a:off x="6102326" y="5916168"/>
            <a:ext cx="5470699" cy="256032"/>
          </a:xfrm>
          <a:prstGeom prst="rect">
            <a:avLst/>
          </a:prstGeom>
          <a:noFill/>
          <a:ln/>
        </p:spPr>
        <p:txBody>
          <a:bodyPr wrap="square" lIns="0" tIns="0" rIns="0" bIns="0" rtlCol="0" anchor="ctr"/>
          <a:lstStyle/>
          <a:p>
            <a:pPr algn="ctr" indent="0" marL="0">
              <a:buNone/>
            </a:pPr>
            <a:r>
              <a:rPr lang="en-US" sz="1100" i="1" dirty="0">
                <a:solidFill>
                  <a:schemeClr val="accent6"/>
                </a:solidFill>
              </a:rPr>
              <a:t>docker compose up --build: all three services healthy</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M5 · CI/CD · 15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Every push: test, build, scan, ship</a:t>
            </a:r>
            <a:endParaRPr lang="en-US" sz="3400" dirty="0"/>
          </a:p>
        </p:txBody>
      </p:sp>
      <p:sp>
        <p:nvSpPr>
          <p:cNvPr id="4" name="step 1"/>
          <p:cNvSpPr/>
          <p:nvPr/>
        </p:nvSpPr>
        <p:spPr>
          <a:xfrm>
            <a:off x="548640" y="1600200"/>
            <a:ext cx="2057400" cy="960120"/>
          </a:xfrm>
          <a:prstGeom prst="roundRect">
            <a:avLst>
              <a:gd name="adj" fmla="val 9524"/>
            </a:avLst>
          </a:prstGeom>
          <a:solidFill>
            <a:schemeClr val="bg2"/>
          </a:solidFill>
          <a:ln w="12700">
            <a:solidFill>
              <a:schemeClr val="bg2"/>
            </a:solidFill>
            <a:prstDash val="solid"/>
          </a:ln>
        </p:spPr>
      </p:sp>
      <p:sp>
        <p:nvSpPr>
          <p:cNvPr id="5" name="step num 1"/>
          <p:cNvSpPr/>
          <p:nvPr/>
        </p:nvSpPr>
        <p:spPr>
          <a:xfrm>
            <a:off x="685800" y="1801368"/>
            <a:ext cx="548640" cy="548640"/>
          </a:xfrm>
          <a:prstGeom prst="ellipse">
            <a:avLst/>
          </a:prstGeom>
          <a:solidFill>
            <a:schemeClr val="accent1"/>
          </a:solidFill>
          <a:ln w="12700">
            <a:solidFill>
              <a:schemeClr val="accent1"/>
            </a:solidFill>
            <a:prstDash val="solid"/>
          </a:ln>
        </p:spPr>
      </p:sp>
      <p:sp>
        <p:nvSpPr>
          <p:cNvPr id="6" name="Text 4"/>
          <p:cNvSpPr txBox="1"/>
          <p:nvPr/>
        </p:nvSpPr>
        <p:spPr>
          <a:xfrm>
            <a:off x="685800" y="180136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5"/>
          <p:cNvSpPr txBox="1"/>
          <p:nvPr/>
        </p:nvSpPr>
        <p:spPr>
          <a:xfrm>
            <a:off x="1325880" y="1600200"/>
            <a:ext cx="1188720" cy="960120"/>
          </a:xfrm>
          <a:prstGeom prst="rect">
            <a:avLst/>
          </a:prstGeom>
          <a:noFill/>
          <a:ln/>
        </p:spPr>
        <p:txBody>
          <a:bodyPr wrap="square" lIns="0" tIns="0" rIns="0" bIns="0" rtlCol="0" anchor="ctr"/>
          <a:lstStyle/>
          <a:p>
            <a:pPr indent="0" marL="0">
              <a:buNone/>
            </a:pPr>
            <a:r>
              <a:rPr lang="en-US" sz="1500" b="1" dirty="0">
                <a:solidFill>
                  <a:schemeClr val="tx1"/>
                </a:solidFill>
              </a:rPr>
              <a:t>Test</a:t>
            </a:r>
            <a:endParaRPr lang="en-US" sz="1500" dirty="0"/>
          </a:p>
          <a:p>
            <a:pPr indent="0" marL="0">
              <a:buNone/>
            </a:pPr>
            <a:r>
              <a:rPr lang="en-US" sz="1200" dirty="0">
                <a:solidFill>
                  <a:schemeClr val="tx1"/>
                </a:solidFill>
              </a:rPr>
              <a:t>ruff + pytest</a:t>
            </a:r>
            <a:endParaRPr lang="en-US" sz="1500" dirty="0"/>
          </a:p>
        </p:txBody>
      </p:sp>
      <p:sp>
        <p:nvSpPr>
          <p:cNvPr id="8" name="step 2"/>
          <p:cNvSpPr/>
          <p:nvPr/>
        </p:nvSpPr>
        <p:spPr>
          <a:xfrm>
            <a:off x="2807208" y="1600200"/>
            <a:ext cx="2057400" cy="960120"/>
          </a:xfrm>
          <a:prstGeom prst="roundRect">
            <a:avLst>
              <a:gd name="adj" fmla="val 9524"/>
            </a:avLst>
          </a:prstGeom>
          <a:solidFill>
            <a:schemeClr val="bg2"/>
          </a:solidFill>
          <a:ln w="12700">
            <a:solidFill>
              <a:schemeClr val="bg2"/>
            </a:solidFill>
            <a:prstDash val="solid"/>
          </a:ln>
        </p:spPr>
      </p:sp>
      <p:sp>
        <p:nvSpPr>
          <p:cNvPr id="9" name="step num 2"/>
          <p:cNvSpPr/>
          <p:nvPr/>
        </p:nvSpPr>
        <p:spPr>
          <a:xfrm>
            <a:off x="2944368" y="1801368"/>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2944368" y="180136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3584448" y="1600200"/>
            <a:ext cx="1188720" cy="960120"/>
          </a:xfrm>
          <a:prstGeom prst="rect">
            <a:avLst/>
          </a:prstGeom>
          <a:noFill/>
          <a:ln/>
        </p:spPr>
        <p:txBody>
          <a:bodyPr wrap="square" lIns="0" tIns="0" rIns="0" bIns="0" rtlCol="0" anchor="ctr"/>
          <a:lstStyle/>
          <a:p>
            <a:pPr indent="0" marL="0">
              <a:buNone/>
            </a:pPr>
            <a:r>
              <a:rPr lang="en-US" sz="1500" b="1" dirty="0">
                <a:solidFill>
                  <a:schemeClr val="tx1"/>
                </a:solidFill>
              </a:rPr>
              <a:t>Frontend</a:t>
            </a:r>
            <a:endParaRPr lang="en-US" sz="1500" dirty="0"/>
          </a:p>
          <a:p>
            <a:pPr indent="0" marL="0">
              <a:buNone/>
            </a:pPr>
            <a:r>
              <a:rPr lang="en-US" sz="1200" dirty="0">
                <a:solidFill>
                  <a:schemeClr val="tx1"/>
                </a:solidFill>
              </a:rPr>
              <a:t>npm build</a:t>
            </a:r>
            <a:endParaRPr lang="en-US" sz="1500" dirty="0"/>
          </a:p>
        </p:txBody>
      </p:sp>
      <p:sp>
        <p:nvSpPr>
          <p:cNvPr id="12" name="step 3"/>
          <p:cNvSpPr/>
          <p:nvPr/>
        </p:nvSpPr>
        <p:spPr>
          <a:xfrm>
            <a:off x="5065776" y="1600200"/>
            <a:ext cx="2057400" cy="960120"/>
          </a:xfrm>
          <a:prstGeom prst="roundRect">
            <a:avLst>
              <a:gd name="adj" fmla="val 9524"/>
            </a:avLst>
          </a:prstGeom>
          <a:solidFill>
            <a:schemeClr val="bg2"/>
          </a:solidFill>
          <a:ln w="12700">
            <a:solidFill>
              <a:schemeClr val="bg2"/>
            </a:solidFill>
            <a:prstDash val="solid"/>
          </a:ln>
        </p:spPr>
      </p:sp>
      <p:sp>
        <p:nvSpPr>
          <p:cNvPr id="13" name="step num 3"/>
          <p:cNvSpPr/>
          <p:nvPr/>
        </p:nvSpPr>
        <p:spPr>
          <a:xfrm>
            <a:off x="5202936" y="1801368"/>
            <a:ext cx="548640" cy="548640"/>
          </a:xfrm>
          <a:prstGeom prst="ellipse">
            <a:avLst/>
          </a:prstGeom>
          <a:solidFill>
            <a:schemeClr val="accent1"/>
          </a:solidFill>
          <a:ln w="12700">
            <a:solidFill>
              <a:schemeClr val="accent1"/>
            </a:solidFill>
            <a:prstDash val="solid"/>
          </a:ln>
        </p:spPr>
      </p:sp>
      <p:sp>
        <p:nvSpPr>
          <p:cNvPr id="14" name="Text 12"/>
          <p:cNvSpPr txBox="1"/>
          <p:nvPr/>
        </p:nvSpPr>
        <p:spPr>
          <a:xfrm>
            <a:off x="5202936" y="180136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3"/>
          <p:cNvSpPr txBox="1"/>
          <p:nvPr/>
        </p:nvSpPr>
        <p:spPr>
          <a:xfrm>
            <a:off x="5843016" y="1600200"/>
            <a:ext cx="1188720" cy="960120"/>
          </a:xfrm>
          <a:prstGeom prst="rect">
            <a:avLst/>
          </a:prstGeom>
          <a:noFill/>
          <a:ln/>
        </p:spPr>
        <p:txBody>
          <a:bodyPr wrap="square" lIns="0" tIns="0" rIns="0" bIns="0" rtlCol="0" anchor="ctr"/>
          <a:lstStyle/>
          <a:p>
            <a:pPr indent="0" marL="0">
              <a:buNone/>
            </a:pPr>
            <a:r>
              <a:rPr lang="en-US" sz="1500" b="1" dirty="0">
                <a:solidFill>
                  <a:schemeClr val="tx1"/>
                </a:solidFill>
              </a:rPr>
              <a:t>Validate</a:t>
            </a:r>
            <a:endParaRPr lang="en-US" sz="1500" dirty="0"/>
          </a:p>
          <a:p>
            <a:pPr indent="0" marL="0">
              <a:buNone/>
            </a:pPr>
            <a:r>
              <a:rPr lang="en-US" sz="1200" dirty="0">
                <a:solidFill>
                  <a:schemeClr val="tx1"/>
                </a:solidFill>
              </a:rPr>
              <a:t>terraform, helm</a:t>
            </a:r>
            <a:endParaRPr lang="en-US" sz="1500" dirty="0"/>
          </a:p>
        </p:txBody>
      </p:sp>
      <p:sp>
        <p:nvSpPr>
          <p:cNvPr id="16" name="step 4"/>
          <p:cNvSpPr/>
          <p:nvPr/>
        </p:nvSpPr>
        <p:spPr>
          <a:xfrm>
            <a:off x="7324344" y="1600200"/>
            <a:ext cx="2057400" cy="960120"/>
          </a:xfrm>
          <a:prstGeom prst="roundRect">
            <a:avLst>
              <a:gd name="adj" fmla="val 9524"/>
            </a:avLst>
          </a:prstGeom>
          <a:solidFill>
            <a:schemeClr val="accent1"/>
          </a:solidFill>
          <a:ln w="12700">
            <a:solidFill>
              <a:schemeClr val="accent1"/>
            </a:solidFill>
            <a:prstDash val="solid"/>
          </a:ln>
        </p:spPr>
      </p:sp>
      <p:sp>
        <p:nvSpPr>
          <p:cNvPr id="17" name="step num 4"/>
          <p:cNvSpPr/>
          <p:nvPr/>
        </p:nvSpPr>
        <p:spPr>
          <a:xfrm>
            <a:off x="7461504" y="1801368"/>
            <a:ext cx="548640" cy="548640"/>
          </a:xfrm>
          <a:prstGeom prst="ellipse">
            <a:avLst/>
          </a:prstGeom>
          <a:solidFill>
            <a:schemeClr val="bg1"/>
          </a:solidFill>
          <a:ln w="12700">
            <a:solidFill>
              <a:schemeClr val="bg1"/>
            </a:solidFill>
            <a:prstDash val="solid"/>
          </a:ln>
        </p:spPr>
      </p:sp>
      <p:sp>
        <p:nvSpPr>
          <p:cNvPr id="18" name="Text 16"/>
          <p:cNvSpPr txBox="1"/>
          <p:nvPr/>
        </p:nvSpPr>
        <p:spPr>
          <a:xfrm>
            <a:off x="7461504" y="1801368"/>
            <a:ext cx="548640" cy="548640"/>
          </a:xfrm>
          <a:prstGeom prst="rect">
            <a:avLst/>
          </a:prstGeom>
          <a:noFill/>
          <a:ln/>
        </p:spPr>
        <p:txBody>
          <a:bodyPr wrap="square" lIns="0" tIns="0" rIns="0" bIns="0" rtlCol="0" anchor="ctr"/>
          <a:lstStyle/>
          <a:p>
            <a:pPr algn="ctr" indent="0" marL="0">
              <a:buNone/>
            </a:pPr>
            <a:r>
              <a:rPr lang="en-US" sz="1800" b="1" dirty="0">
                <a:solidFill>
                  <a:schemeClr val="accent1"/>
                </a:solidFill>
              </a:rPr>
              <a:t>4</a:t>
            </a:r>
            <a:endParaRPr lang="en-US" sz="1800" dirty="0"/>
          </a:p>
        </p:txBody>
      </p:sp>
      <p:sp>
        <p:nvSpPr>
          <p:cNvPr id="19" name="Text 17"/>
          <p:cNvSpPr txBox="1"/>
          <p:nvPr/>
        </p:nvSpPr>
        <p:spPr>
          <a:xfrm>
            <a:off x="8101584" y="1600200"/>
            <a:ext cx="1188720" cy="960120"/>
          </a:xfrm>
          <a:prstGeom prst="rect">
            <a:avLst/>
          </a:prstGeom>
          <a:noFill/>
          <a:ln/>
        </p:spPr>
        <p:txBody>
          <a:bodyPr wrap="square" lIns="0" tIns="0" rIns="0" bIns="0" rtlCol="0" anchor="ctr"/>
          <a:lstStyle/>
          <a:p>
            <a:pPr indent="0" marL="0">
              <a:buNone/>
            </a:pPr>
            <a:r>
              <a:rPr lang="en-US" sz="1500" b="1" dirty="0">
                <a:solidFill>
                  <a:schemeClr val="bg1"/>
                </a:solidFill>
              </a:rPr>
              <a:t>Ship images</a:t>
            </a:r>
            <a:endParaRPr lang="en-US" sz="1500" dirty="0"/>
          </a:p>
          <a:p>
            <a:pPr indent="0" marL="0">
              <a:buNone/>
            </a:pPr>
            <a:r>
              <a:rPr lang="en-US" sz="1200" dirty="0">
                <a:solidFill>
                  <a:schemeClr val="bg1"/>
                </a:solidFill>
              </a:rPr>
              <a:t>Trivy → GHCR</a:t>
            </a:r>
            <a:endParaRPr lang="en-US" sz="1500" dirty="0"/>
          </a:p>
        </p:txBody>
      </p:sp>
      <p:sp>
        <p:nvSpPr>
          <p:cNvPr id="20" name="step 5"/>
          <p:cNvSpPr/>
          <p:nvPr/>
        </p:nvSpPr>
        <p:spPr>
          <a:xfrm>
            <a:off x="9582912" y="1600200"/>
            <a:ext cx="2057400" cy="960120"/>
          </a:xfrm>
          <a:prstGeom prst="roundRect">
            <a:avLst>
              <a:gd name="adj" fmla="val 9524"/>
            </a:avLst>
          </a:prstGeom>
          <a:solidFill>
            <a:schemeClr val="bg2"/>
          </a:solidFill>
          <a:ln w="12700">
            <a:solidFill>
              <a:schemeClr val="bg2"/>
            </a:solidFill>
            <a:prstDash val="solid"/>
          </a:ln>
        </p:spPr>
      </p:sp>
      <p:sp>
        <p:nvSpPr>
          <p:cNvPr id="21" name="step num 5"/>
          <p:cNvSpPr/>
          <p:nvPr/>
        </p:nvSpPr>
        <p:spPr>
          <a:xfrm>
            <a:off x="9720072" y="1801368"/>
            <a:ext cx="548640" cy="548640"/>
          </a:xfrm>
          <a:prstGeom prst="ellipse">
            <a:avLst/>
          </a:prstGeom>
          <a:solidFill>
            <a:schemeClr val="accent1"/>
          </a:solidFill>
          <a:ln w="12700">
            <a:solidFill>
              <a:schemeClr val="accent1"/>
            </a:solidFill>
            <a:prstDash val="solid"/>
          </a:ln>
        </p:spPr>
      </p:sp>
      <p:sp>
        <p:nvSpPr>
          <p:cNvPr id="22" name="Text 20"/>
          <p:cNvSpPr txBox="1"/>
          <p:nvPr/>
        </p:nvSpPr>
        <p:spPr>
          <a:xfrm>
            <a:off x="9720072" y="180136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1"/>
          <p:cNvSpPr txBox="1"/>
          <p:nvPr/>
        </p:nvSpPr>
        <p:spPr>
          <a:xfrm>
            <a:off x="10360152" y="1600200"/>
            <a:ext cx="1188720" cy="960120"/>
          </a:xfrm>
          <a:prstGeom prst="rect">
            <a:avLst/>
          </a:prstGeom>
          <a:noFill/>
          <a:ln/>
        </p:spPr>
        <p:txBody>
          <a:bodyPr wrap="square" lIns="0" tIns="0" rIns="0" bIns="0" rtlCol="0" anchor="ctr"/>
          <a:lstStyle/>
          <a:p>
            <a:pPr indent="0" marL="0">
              <a:buNone/>
            </a:pPr>
            <a:r>
              <a:rPr lang="en-US" sz="1500" b="1" dirty="0">
                <a:solidFill>
                  <a:schemeClr val="tx1"/>
                </a:solidFill>
              </a:rPr>
              <a:t>Deploy</a:t>
            </a:r>
            <a:endParaRPr lang="en-US" sz="1500" dirty="0"/>
          </a:p>
          <a:p>
            <a:pPr indent="0" marL="0">
              <a:buNone/>
            </a:pPr>
            <a:r>
              <a:rPr lang="en-US" sz="1200" dirty="0">
                <a:solidFill>
                  <a:schemeClr val="tx1"/>
                </a:solidFill>
              </a:rPr>
              <a:t>helm upgrade</a:t>
            </a:r>
            <a:endParaRPr lang="en-US" sz="1500" dirty="0"/>
          </a:p>
        </p:txBody>
      </p:sp>
      <p:sp>
        <p:nvSpPr>
          <p:cNvPr id="24" name="card 13-github-actions-run.png"/>
          <p:cNvSpPr/>
          <p:nvPr/>
        </p:nvSpPr>
        <p:spPr>
          <a:xfrm>
            <a:off x="548640" y="2834640"/>
            <a:ext cx="5521569" cy="3383280"/>
          </a:xfrm>
          <a:prstGeom prst="roundRect">
            <a:avLst>
              <a:gd name="adj" fmla="val 2162"/>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5" name="13-github-actions-run.png" descr="13-github-actions-run.png">    </p:cNvPr>
          <p:cNvPicPr>
            <a:picLocks noChangeAspect="1"/>
          </p:cNvPicPr>
          <p:nvPr/>
        </p:nvPicPr>
        <p:blipFill>
          <a:blip r:embed="rId1"/>
          <a:stretch>
            <a:fillRect/>
          </a:stretch>
        </p:blipFill>
        <p:spPr>
          <a:xfrm>
            <a:off x="612648" y="2898648"/>
            <a:ext cx="5393553" cy="3255264"/>
          </a:xfrm>
          <a:prstGeom prst="rect">
            <a:avLst/>
          </a:prstGeom>
        </p:spPr>
      </p:pic>
      <p:sp>
        <p:nvSpPr>
          <p:cNvPr id="26" name="icon circle Tagged with the commit SHA"/>
          <p:cNvSpPr/>
          <p:nvPr/>
        </p:nvSpPr>
        <p:spPr>
          <a:xfrm>
            <a:off x="6949440" y="2926080"/>
            <a:ext cx="512064" cy="512064"/>
          </a:xfrm>
          <a:prstGeom prst="ellipse">
            <a:avLst/>
          </a:prstGeom>
          <a:solidFill>
            <a:schemeClr val="accent1"/>
          </a:solidFill>
          <a:ln w="12700">
            <a:solidFill>
              <a:schemeClr val="accent1"/>
            </a:solidFill>
            <a:prstDash val="solid"/>
          </a:ln>
        </p:spPr>
      </p:sp>
      <p:pic>
        <p:nvPicPr>
          <p:cNvPr id="27" name="icon Tagged with the commit SHA" descr="preencoded.png">    </p:cNvPr>
          <p:cNvPicPr>
            <a:picLocks noChangeAspect="1"/>
          </p:cNvPicPr>
          <p:nvPr/>
        </p:nvPicPr>
        <p:blipFill>
          <a:blip r:embed="rId2"/>
          <a:stretch>
            <a:fillRect/>
          </a:stretch>
        </p:blipFill>
        <p:spPr>
          <a:xfrm>
            <a:off x="7077456" y="3054096"/>
            <a:ext cx="256032" cy="256032"/>
          </a:xfrm>
          <a:prstGeom prst="rect">
            <a:avLst/>
          </a:prstGeom>
        </p:spPr>
      </p:pic>
      <p:sp>
        <p:nvSpPr>
          <p:cNvPr id="28" name="Text 24"/>
          <p:cNvSpPr txBox="1"/>
          <p:nvPr/>
        </p:nvSpPr>
        <p:spPr>
          <a:xfrm>
            <a:off x="7662672" y="2907792"/>
            <a:ext cx="3977640" cy="329184"/>
          </a:xfrm>
          <a:prstGeom prst="rect">
            <a:avLst/>
          </a:prstGeom>
          <a:noFill/>
          <a:ln/>
        </p:spPr>
        <p:txBody>
          <a:bodyPr wrap="square" lIns="0" tIns="0" rIns="0" bIns="0" rtlCol="0" anchor="t"/>
          <a:lstStyle/>
          <a:p>
            <a:pPr indent="0" marL="0">
              <a:buNone/>
            </a:pPr>
            <a:r>
              <a:rPr lang="en-US" sz="1700" b="1" dirty="0">
                <a:solidFill>
                  <a:schemeClr val="tx1"/>
                </a:solidFill>
              </a:rPr>
              <a:t>Tagged with the commit SHA</a:t>
            </a:r>
            <a:endParaRPr lang="en-US" sz="1700" dirty="0"/>
          </a:p>
        </p:txBody>
      </p:sp>
      <p:sp>
        <p:nvSpPr>
          <p:cNvPr id="29" name="Text 25"/>
          <p:cNvSpPr txBox="1"/>
          <p:nvPr/>
        </p:nvSpPr>
        <p:spPr>
          <a:xfrm>
            <a:off x="7662672" y="3255264"/>
            <a:ext cx="3977640" cy="749808"/>
          </a:xfrm>
          <a:prstGeom prst="rect">
            <a:avLst/>
          </a:prstGeom>
          <a:noFill/>
          <a:ln/>
        </p:spPr>
        <p:txBody>
          <a:bodyPr wrap="square" lIns="0" tIns="0" rIns="0" bIns="0" rtlCol="0" anchor="t"/>
          <a:lstStyle/>
          <a:p>
            <a:pPr indent="0" marL="0">
              <a:buNone/>
            </a:pPr>
            <a:r>
              <a:rPr lang="en-US" sz="1400" dirty="0">
                <a:solidFill>
                  <a:schemeClr val="tx2"/>
                </a:solidFill>
              </a:rPr>
              <a:t>ghcr.io/kavyadhyani/datadrift-backend:&lt;sha&gt;, never latest: every pod traces back to a commit.</a:t>
            </a:r>
            <a:endParaRPr lang="en-US" sz="1400" dirty="0"/>
          </a:p>
        </p:txBody>
      </p:sp>
      <p:sp>
        <p:nvSpPr>
          <p:cNvPr id="30" name="icon circle Gates in order"/>
          <p:cNvSpPr/>
          <p:nvPr/>
        </p:nvSpPr>
        <p:spPr>
          <a:xfrm>
            <a:off x="6949440" y="4160520"/>
            <a:ext cx="512064" cy="512064"/>
          </a:xfrm>
          <a:prstGeom prst="ellipse">
            <a:avLst/>
          </a:prstGeom>
          <a:solidFill>
            <a:schemeClr val="accent3"/>
          </a:solidFill>
          <a:ln w="12700">
            <a:solidFill>
              <a:schemeClr val="accent3"/>
            </a:solidFill>
            <a:prstDash val="solid"/>
          </a:ln>
        </p:spPr>
      </p:sp>
      <p:pic>
        <p:nvPicPr>
          <p:cNvPr id="31" name="icon Gates in order" descr="preencoded.png">    </p:cNvPr>
          <p:cNvPicPr>
            <a:picLocks noChangeAspect="1"/>
          </p:cNvPicPr>
          <p:nvPr/>
        </p:nvPicPr>
        <p:blipFill>
          <a:blip r:embed="rId3"/>
          <a:stretch>
            <a:fillRect/>
          </a:stretch>
        </p:blipFill>
        <p:spPr>
          <a:xfrm>
            <a:off x="7077456" y="4288536"/>
            <a:ext cx="256032" cy="256032"/>
          </a:xfrm>
          <a:prstGeom prst="rect">
            <a:avLst/>
          </a:prstGeom>
        </p:spPr>
      </p:pic>
      <p:sp>
        <p:nvSpPr>
          <p:cNvPr id="32" name="Text 27"/>
          <p:cNvSpPr txBox="1"/>
          <p:nvPr/>
        </p:nvSpPr>
        <p:spPr>
          <a:xfrm>
            <a:off x="7662672" y="4142232"/>
            <a:ext cx="3977640" cy="329184"/>
          </a:xfrm>
          <a:prstGeom prst="rect">
            <a:avLst/>
          </a:prstGeom>
          <a:noFill/>
          <a:ln/>
        </p:spPr>
        <p:txBody>
          <a:bodyPr wrap="square" lIns="0" tIns="0" rIns="0" bIns="0" rtlCol="0" anchor="t"/>
          <a:lstStyle/>
          <a:p>
            <a:pPr indent="0" marL="0">
              <a:buNone/>
            </a:pPr>
            <a:r>
              <a:rPr lang="en-US" sz="1700" b="1" dirty="0">
                <a:solidFill>
                  <a:schemeClr val="tx1"/>
                </a:solidFill>
              </a:rPr>
              <a:t>Gates in order</a:t>
            </a:r>
            <a:endParaRPr lang="en-US" sz="1700" dirty="0"/>
          </a:p>
        </p:txBody>
      </p:sp>
      <p:sp>
        <p:nvSpPr>
          <p:cNvPr id="33" name="Text 28"/>
          <p:cNvSpPr txBox="1"/>
          <p:nvPr/>
        </p:nvSpPr>
        <p:spPr>
          <a:xfrm>
            <a:off x="7662672" y="4489704"/>
            <a:ext cx="3977640" cy="749808"/>
          </a:xfrm>
          <a:prstGeom prst="rect">
            <a:avLst/>
          </a:prstGeom>
          <a:noFill/>
          <a:ln/>
        </p:spPr>
        <p:txBody>
          <a:bodyPr wrap="square" lIns="0" tIns="0" rIns="0" bIns="0" rtlCol="0" anchor="t"/>
          <a:lstStyle/>
          <a:p>
            <a:pPr indent="0" marL="0">
              <a:buNone/>
            </a:pPr>
            <a:r>
              <a:rPr lang="en-US" sz="1400" dirty="0">
                <a:solidFill>
                  <a:schemeClr val="tx2"/>
                </a:solidFill>
              </a:rPr>
              <a:t>Steps 1–3 run in parallel; images are built only if all pass. Pull requests build and scan but never push.</a:t>
            </a:r>
            <a:endParaRPr lang="en-US" sz="1400" dirty="0"/>
          </a:p>
        </p:txBody>
      </p:sp>
      <p:sp>
        <p:nvSpPr>
          <p:cNvPr id="34" name="icon circle Deploy when a cluster exists"/>
          <p:cNvSpPr/>
          <p:nvPr/>
        </p:nvSpPr>
        <p:spPr>
          <a:xfrm>
            <a:off x="6949440" y="5394960"/>
            <a:ext cx="512064" cy="512064"/>
          </a:xfrm>
          <a:prstGeom prst="ellipse">
            <a:avLst/>
          </a:prstGeom>
          <a:solidFill>
            <a:schemeClr val="accent4"/>
          </a:solidFill>
          <a:ln w="12700">
            <a:solidFill>
              <a:schemeClr val="accent4"/>
            </a:solidFill>
            <a:prstDash val="solid"/>
          </a:ln>
        </p:spPr>
      </p:sp>
      <p:pic>
        <p:nvPicPr>
          <p:cNvPr id="35" name="icon Deploy when a cluster exists" descr="preencoded.png">    </p:cNvPr>
          <p:cNvPicPr>
            <a:picLocks noChangeAspect="1"/>
          </p:cNvPicPr>
          <p:nvPr/>
        </p:nvPicPr>
        <p:blipFill>
          <a:blip r:embed="rId4"/>
          <a:stretch>
            <a:fillRect/>
          </a:stretch>
        </p:blipFill>
        <p:spPr>
          <a:xfrm>
            <a:off x="7077456" y="5522976"/>
            <a:ext cx="256032" cy="256032"/>
          </a:xfrm>
          <a:prstGeom prst="rect">
            <a:avLst/>
          </a:prstGeom>
        </p:spPr>
      </p:pic>
      <p:sp>
        <p:nvSpPr>
          <p:cNvPr id="36" name="Text 30"/>
          <p:cNvSpPr txBox="1"/>
          <p:nvPr/>
        </p:nvSpPr>
        <p:spPr>
          <a:xfrm>
            <a:off x="7662672" y="5376672"/>
            <a:ext cx="3977640" cy="329184"/>
          </a:xfrm>
          <a:prstGeom prst="rect">
            <a:avLst/>
          </a:prstGeom>
          <a:noFill/>
          <a:ln/>
        </p:spPr>
        <p:txBody>
          <a:bodyPr wrap="square" lIns="0" tIns="0" rIns="0" bIns="0" rtlCol="0" anchor="t"/>
          <a:lstStyle/>
          <a:p>
            <a:pPr indent="0" marL="0">
              <a:buNone/>
            </a:pPr>
            <a:r>
              <a:rPr lang="en-US" sz="1700" b="1" dirty="0">
                <a:solidFill>
                  <a:schemeClr val="tx1"/>
                </a:solidFill>
              </a:rPr>
              <a:t>Deploy when a cluster exists</a:t>
            </a:r>
            <a:endParaRPr lang="en-US" sz="1700" dirty="0"/>
          </a:p>
        </p:txBody>
      </p:sp>
      <p:sp>
        <p:nvSpPr>
          <p:cNvPr id="37" name="Text 31"/>
          <p:cNvSpPr txBox="1"/>
          <p:nvPr/>
        </p:nvSpPr>
        <p:spPr>
          <a:xfrm>
            <a:off x="7662672" y="5724144"/>
            <a:ext cx="3977640" cy="749808"/>
          </a:xfrm>
          <a:prstGeom prst="rect">
            <a:avLst/>
          </a:prstGeom>
          <a:noFill/>
          <a:ln/>
        </p:spPr>
        <p:txBody>
          <a:bodyPr wrap="square" lIns="0" tIns="0" rIns="0" bIns="0" rtlCol="0" anchor="t"/>
          <a:lstStyle/>
          <a:p>
            <a:pPr indent="0" marL="0">
              <a:buNone/>
            </a:pPr>
            <a:r>
              <a:rPr lang="en-US" sz="1400" dirty="0">
                <a:solidFill>
                  <a:schemeClr val="tx2"/>
                </a:solidFill>
              </a:rPr>
              <a:t>Runs helm upgrade when a KUBE_CONFIG_DATA secret is set.</a:t>
            </a:r>
            <a:endParaRPr lang="en-US" sz="14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M6 · DEVSECOPS · 5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The scan found real CVEs, and the build fixed them</a:t>
            </a:r>
            <a:endParaRPr lang="en-US" sz="3400" dirty="0"/>
          </a:p>
        </p:txBody>
      </p:sp>
      <p:sp>
        <p:nvSpPr>
          <p:cNvPr id="4" name="cve card Frontend · nginx-unprivileged base"/>
          <p:cNvSpPr/>
          <p:nvPr/>
        </p:nvSpPr>
        <p:spPr>
          <a:xfrm>
            <a:off x="548640" y="1645920"/>
            <a:ext cx="5349240" cy="2971800"/>
          </a:xfrm>
          <a:prstGeom prst="roundRect">
            <a:avLst>
              <a:gd name="adj" fmla="val 3692"/>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sp>
        <p:nvSpPr>
          <p:cNvPr id="5" name="Text 3"/>
          <p:cNvSpPr txBox="1"/>
          <p:nvPr/>
        </p:nvSpPr>
        <p:spPr>
          <a:xfrm>
            <a:off x="868680" y="1810512"/>
            <a:ext cx="4754880" cy="365760"/>
          </a:xfrm>
          <a:prstGeom prst="rect">
            <a:avLst/>
          </a:prstGeom>
          <a:noFill/>
          <a:ln/>
        </p:spPr>
        <p:txBody>
          <a:bodyPr wrap="square" lIns="0" tIns="0" rIns="0" bIns="0" rtlCol="0" anchor="ctr"/>
          <a:lstStyle/>
          <a:p>
            <a:pPr indent="0" marL="0">
              <a:buNone/>
            </a:pPr>
            <a:r>
              <a:rPr lang="en-US" sz="1800" b="1" dirty="0">
                <a:solidFill>
                  <a:schemeClr val="tx1"/>
                </a:solidFill>
              </a:rPr>
              <a:t>Frontend · nginx-unprivileged base</a:t>
            </a:r>
            <a:endParaRPr lang="en-US" sz="1800" dirty="0"/>
          </a:p>
        </p:txBody>
      </p:sp>
      <p:sp>
        <p:nvSpPr>
          <p:cNvPr id="6" name="Text 4"/>
          <p:cNvSpPr txBox="1"/>
          <p:nvPr/>
        </p:nvSpPr>
        <p:spPr>
          <a:xfrm>
            <a:off x="868680" y="2286000"/>
            <a:ext cx="1737360" cy="868680"/>
          </a:xfrm>
          <a:prstGeom prst="rect">
            <a:avLst/>
          </a:prstGeom>
          <a:noFill/>
          <a:ln/>
        </p:spPr>
        <p:txBody>
          <a:bodyPr wrap="square" lIns="0" tIns="0" rIns="0" bIns="0" rtlCol="0" anchor="ctr"/>
          <a:lstStyle/>
          <a:p>
            <a:pPr indent="0" marL="0">
              <a:buNone/>
            </a:pPr>
            <a:r>
              <a:rPr lang="en-US" sz="5400" b="1" dirty="0">
                <a:solidFill>
                  <a:schemeClr val="accent2"/>
                </a:solidFill>
              </a:rPr>
              <a:t>43</a:t>
            </a:r>
            <a:endParaRPr lang="en-US" sz="5400" dirty="0"/>
          </a:p>
        </p:txBody>
      </p:sp>
      <p:sp>
        <p:nvSpPr>
          <p:cNvPr id="7" name="before after Frontend · nginx-unprivileged base"/>
          <p:cNvSpPr/>
          <p:nvPr/>
        </p:nvSpPr>
        <p:spPr>
          <a:xfrm>
            <a:off x="2697480" y="2715768"/>
            <a:ext cx="777240" cy="0"/>
          </a:xfrm>
          <a:prstGeom prst="line">
            <a:avLst/>
          </a:prstGeom>
          <a:noFill/>
          <a:ln w="22225">
            <a:solidFill>
              <a:srgbClr val="64748B"/>
            </a:solidFill>
            <a:prstDash val="solid"/>
            <a:tailEnd type="triangle"/>
          </a:ln>
        </p:spPr>
      </p:sp>
      <p:sp>
        <p:nvSpPr>
          <p:cNvPr id="8" name="Text 6"/>
          <p:cNvSpPr txBox="1"/>
          <p:nvPr/>
        </p:nvSpPr>
        <p:spPr>
          <a:xfrm>
            <a:off x="3657600" y="2286000"/>
            <a:ext cx="1737360" cy="868680"/>
          </a:xfrm>
          <a:prstGeom prst="rect">
            <a:avLst/>
          </a:prstGeom>
          <a:noFill/>
          <a:ln/>
        </p:spPr>
        <p:txBody>
          <a:bodyPr wrap="square" lIns="0" tIns="0" rIns="0" bIns="0" rtlCol="0" anchor="ctr"/>
          <a:lstStyle/>
          <a:p>
            <a:pPr indent="0" marL="0">
              <a:buNone/>
            </a:pPr>
            <a:r>
              <a:rPr lang="en-US" sz="5400" b="1" dirty="0">
                <a:solidFill>
                  <a:schemeClr val="accent3"/>
                </a:solidFill>
              </a:rPr>
              <a:t>0</a:t>
            </a:r>
            <a:endParaRPr lang="en-US" sz="5400" dirty="0"/>
          </a:p>
        </p:txBody>
      </p:sp>
      <p:sp>
        <p:nvSpPr>
          <p:cNvPr id="9" name="Text 7"/>
          <p:cNvSpPr txBox="1"/>
          <p:nvPr/>
        </p:nvSpPr>
        <p:spPr>
          <a:xfrm>
            <a:off x="868680" y="3200400"/>
            <a:ext cx="4754880" cy="457200"/>
          </a:xfrm>
          <a:prstGeom prst="rect">
            <a:avLst/>
          </a:prstGeom>
          <a:noFill/>
          <a:ln/>
        </p:spPr>
        <p:txBody>
          <a:bodyPr wrap="square" lIns="0" tIns="0" rIns="0" bIns="0" rtlCol="0" anchor="t"/>
          <a:lstStyle/>
          <a:p>
            <a:pPr indent="0" marL="0">
              <a:buNone/>
            </a:pPr>
            <a:r>
              <a:rPr lang="en-US" sz="1400" dirty="0">
                <a:solidFill>
                  <a:schemeClr val="tx2"/>
                </a:solidFill>
              </a:rPr>
              <a:t>HIGH CVEs in Alpine packages (c-ares, curl, …)</a:t>
            </a:r>
            <a:endParaRPr lang="en-US" sz="1400" dirty="0"/>
          </a:p>
        </p:txBody>
      </p:sp>
      <p:sp>
        <p:nvSpPr>
          <p:cNvPr id="10" name="Text 8"/>
          <p:cNvSpPr txBox="1"/>
          <p:nvPr/>
        </p:nvSpPr>
        <p:spPr>
          <a:xfrm>
            <a:off x="868680" y="3749040"/>
            <a:ext cx="4754880" cy="731520"/>
          </a:xfrm>
          <a:prstGeom prst="rect">
            <a:avLst/>
          </a:prstGeom>
          <a:noFill/>
          <a:ln/>
        </p:spPr>
        <p:txBody>
          <a:bodyPr wrap="square" lIns="0" tIns="0" rIns="0" bIns="0" rtlCol="0" anchor="t"/>
          <a:lstStyle/>
          <a:p>
            <a:pPr indent="0" marL="0">
              <a:buNone/>
            </a:pPr>
            <a:r>
              <a:rPr lang="en-US" sz="1400" b="1" dirty="0">
                <a:solidFill>
                  <a:schemeClr val="tx1"/>
                </a:solidFill>
              </a:rPr>
              <a:t>Fix: </a:t>
            </a:r>
            <a:pPr indent="0" marL="0">
              <a:buNone/>
            </a:pPr>
            <a:r>
              <a:rPr lang="en-US" sz="1400" dirty="0">
                <a:solidFill>
                  <a:schemeClr val="tx1"/>
                </a:solidFill>
              </a:rPr>
              <a:t>apk upgrade --no-cache in the runtime stage</a:t>
            </a:r>
            <a:endParaRPr lang="en-US" sz="1400" dirty="0"/>
          </a:p>
        </p:txBody>
      </p:sp>
      <p:sp>
        <p:nvSpPr>
          <p:cNvPr id="11" name="cve card Backend · python:3.12-slim"/>
          <p:cNvSpPr/>
          <p:nvPr/>
        </p:nvSpPr>
        <p:spPr>
          <a:xfrm>
            <a:off x="6291072" y="1645920"/>
            <a:ext cx="5349240" cy="2971800"/>
          </a:xfrm>
          <a:prstGeom prst="roundRect">
            <a:avLst>
              <a:gd name="adj" fmla="val 3692"/>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sp>
        <p:nvSpPr>
          <p:cNvPr id="12" name="Text 10"/>
          <p:cNvSpPr txBox="1"/>
          <p:nvPr/>
        </p:nvSpPr>
        <p:spPr>
          <a:xfrm>
            <a:off x="6611112" y="1810512"/>
            <a:ext cx="4754880" cy="365760"/>
          </a:xfrm>
          <a:prstGeom prst="rect">
            <a:avLst/>
          </a:prstGeom>
          <a:noFill/>
          <a:ln/>
        </p:spPr>
        <p:txBody>
          <a:bodyPr wrap="square" lIns="0" tIns="0" rIns="0" bIns="0" rtlCol="0" anchor="ctr"/>
          <a:lstStyle/>
          <a:p>
            <a:pPr indent="0" marL="0">
              <a:buNone/>
            </a:pPr>
            <a:r>
              <a:rPr lang="en-US" sz="1800" b="1" dirty="0">
                <a:solidFill>
                  <a:schemeClr val="tx1"/>
                </a:solidFill>
              </a:rPr>
              <a:t>Backend · python:3.12-slim</a:t>
            </a:r>
            <a:endParaRPr lang="en-US" sz="1800" dirty="0"/>
          </a:p>
        </p:txBody>
      </p:sp>
      <p:sp>
        <p:nvSpPr>
          <p:cNvPr id="13" name="Text 11"/>
          <p:cNvSpPr txBox="1"/>
          <p:nvPr/>
        </p:nvSpPr>
        <p:spPr>
          <a:xfrm>
            <a:off x="6611112" y="2286000"/>
            <a:ext cx="1737360" cy="868680"/>
          </a:xfrm>
          <a:prstGeom prst="rect">
            <a:avLst/>
          </a:prstGeom>
          <a:noFill/>
          <a:ln/>
        </p:spPr>
        <p:txBody>
          <a:bodyPr wrap="square" lIns="0" tIns="0" rIns="0" bIns="0" rtlCol="0" anchor="ctr"/>
          <a:lstStyle/>
          <a:p>
            <a:pPr indent="0" marL="0">
              <a:buNone/>
            </a:pPr>
            <a:r>
              <a:rPr lang="en-US" sz="5400" b="1" dirty="0">
                <a:solidFill>
                  <a:schemeClr val="accent2"/>
                </a:solidFill>
              </a:rPr>
              <a:t>HIGH</a:t>
            </a:r>
            <a:endParaRPr lang="en-US" sz="5400" dirty="0"/>
          </a:p>
        </p:txBody>
      </p:sp>
      <p:sp>
        <p:nvSpPr>
          <p:cNvPr id="14" name="before after Backend · python:3.12-slim"/>
          <p:cNvSpPr/>
          <p:nvPr/>
        </p:nvSpPr>
        <p:spPr>
          <a:xfrm>
            <a:off x="8439912" y="2715768"/>
            <a:ext cx="777240" cy="0"/>
          </a:xfrm>
          <a:prstGeom prst="line">
            <a:avLst/>
          </a:prstGeom>
          <a:noFill/>
          <a:ln w="22225">
            <a:solidFill>
              <a:srgbClr val="64748B"/>
            </a:solidFill>
            <a:prstDash val="solid"/>
            <a:tailEnd type="triangle"/>
          </a:ln>
        </p:spPr>
      </p:sp>
      <p:sp>
        <p:nvSpPr>
          <p:cNvPr id="15" name="Text 13"/>
          <p:cNvSpPr txBox="1"/>
          <p:nvPr/>
        </p:nvSpPr>
        <p:spPr>
          <a:xfrm>
            <a:off x="9400032" y="2286000"/>
            <a:ext cx="1737360" cy="868680"/>
          </a:xfrm>
          <a:prstGeom prst="rect">
            <a:avLst/>
          </a:prstGeom>
          <a:noFill/>
          <a:ln/>
        </p:spPr>
        <p:txBody>
          <a:bodyPr wrap="square" lIns="0" tIns="0" rIns="0" bIns="0" rtlCol="0" anchor="ctr"/>
          <a:lstStyle/>
          <a:p>
            <a:pPr indent="0" marL="0">
              <a:buNone/>
            </a:pPr>
            <a:r>
              <a:rPr lang="en-US" sz="5400" b="1" dirty="0">
                <a:solidFill>
                  <a:schemeClr val="accent3"/>
                </a:solidFill>
              </a:rPr>
              <a:t>0</a:t>
            </a:r>
            <a:endParaRPr lang="en-US" sz="5400" dirty="0"/>
          </a:p>
        </p:txBody>
      </p:sp>
      <p:sp>
        <p:nvSpPr>
          <p:cNvPr id="16" name="Text 14"/>
          <p:cNvSpPr txBox="1"/>
          <p:nvPr/>
        </p:nvSpPr>
        <p:spPr>
          <a:xfrm>
            <a:off x="6611112" y="3200400"/>
            <a:ext cx="4754880" cy="457200"/>
          </a:xfrm>
          <a:prstGeom prst="rect">
            <a:avLst/>
          </a:prstGeom>
          <a:noFill/>
          <a:ln/>
        </p:spPr>
        <p:txBody>
          <a:bodyPr wrap="square" lIns="0" tIns="0" rIns="0" bIns="0" rtlCol="0" anchor="t"/>
          <a:lstStyle/>
          <a:p>
            <a:pPr indent="0" marL="0">
              <a:buNone/>
            </a:pPr>
            <a:r>
              <a:rPr lang="en-US" sz="1400" dirty="0">
                <a:solidFill>
                  <a:schemeClr val="tx2"/>
                </a:solidFill>
              </a:rPr>
              <a:t>CVEs in pip’s vendored urllib3 and in setuptools</a:t>
            </a:r>
            <a:endParaRPr lang="en-US" sz="1400" dirty="0"/>
          </a:p>
        </p:txBody>
      </p:sp>
      <p:sp>
        <p:nvSpPr>
          <p:cNvPr id="17" name="Text 15"/>
          <p:cNvSpPr txBox="1"/>
          <p:nvPr/>
        </p:nvSpPr>
        <p:spPr>
          <a:xfrm>
            <a:off x="6611112" y="3749040"/>
            <a:ext cx="4754880" cy="731520"/>
          </a:xfrm>
          <a:prstGeom prst="rect">
            <a:avLst/>
          </a:prstGeom>
          <a:noFill/>
          <a:ln/>
        </p:spPr>
        <p:txBody>
          <a:bodyPr wrap="square" lIns="0" tIns="0" rIns="0" bIns="0" rtlCol="0" anchor="t"/>
          <a:lstStyle/>
          <a:p>
            <a:pPr indent="0" marL="0">
              <a:buNone/>
            </a:pPr>
            <a:r>
              <a:rPr lang="en-US" sz="1400" b="1" dirty="0">
                <a:solidFill>
                  <a:schemeClr val="tx1"/>
                </a:solidFill>
              </a:rPr>
              <a:t>Fix: </a:t>
            </a:r>
            <a:pPr indent="0" marL="0">
              <a:buNone/>
            </a:pPr>
            <a:r>
              <a:rPr lang="en-US" sz="1400" dirty="0">
                <a:solidFill>
                  <a:schemeClr val="tx1"/>
                </a:solidFill>
              </a:rPr>
              <a:t>uninstall pip, setuptools and wheel after installing dependencies</a:t>
            </a:r>
            <a:endParaRPr lang="en-US" sz="1400" dirty="0"/>
          </a:p>
        </p:txBody>
      </p:sp>
      <p:sp>
        <p:nvSpPr>
          <p:cNvPr id="18" name="icon circle Example: CVE-2026-33630"/>
          <p:cNvSpPr/>
          <p:nvPr/>
        </p:nvSpPr>
        <p:spPr>
          <a:xfrm>
            <a:off x="548640" y="4937760"/>
            <a:ext cx="512064" cy="512064"/>
          </a:xfrm>
          <a:prstGeom prst="ellipse">
            <a:avLst/>
          </a:prstGeom>
          <a:solidFill>
            <a:schemeClr val="accent2"/>
          </a:solidFill>
          <a:ln w="12700">
            <a:solidFill>
              <a:schemeClr val="accent2"/>
            </a:solidFill>
            <a:prstDash val="solid"/>
          </a:ln>
        </p:spPr>
      </p:sp>
      <p:pic>
        <p:nvPicPr>
          <p:cNvPr id="19" name="icon Example: CVE-2026-33630" descr="preencoded.png">    </p:cNvPr>
          <p:cNvPicPr>
            <a:picLocks noChangeAspect="1"/>
          </p:cNvPicPr>
          <p:nvPr/>
        </p:nvPicPr>
        <p:blipFill>
          <a:blip r:embed="rId1"/>
          <a:stretch>
            <a:fillRect/>
          </a:stretch>
        </p:blipFill>
        <p:spPr>
          <a:xfrm>
            <a:off x="676656" y="5065776"/>
            <a:ext cx="256032" cy="256032"/>
          </a:xfrm>
          <a:prstGeom prst="rect">
            <a:avLst/>
          </a:prstGeom>
        </p:spPr>
      </p:pic>
      <p:sp>
        <p:nvSpPr>
          <p:cNvPr id="20" name="Text 17"/>
          <p:cNvSpPr txBox="1"/>
          <p:nvPr/>
        </p:nvSpPr>
        <p:spPr>
          <a:xfrm>
            <a:off x="1261872" y="4919472"/>
            <a:ext cx="4864608" cy="329184"/>
          </a:xfrm>
          <a:prstGeom prst="rect">
            <a:avLst/>
          </a:prstGeom>
          <a:noFill/>
          <a:ln/>
        </p:spPr>
        <p:txBody>
          <a:bodyPr wrap="square" lIns="0" tIns="0" rIns="0" bIns="0" rtlCol="0" anchor="t"/>
          <a:lstStyle/>
          <a:p>
            <a:pPr indent="0" marL="0">
              <a:buNone/>
            </a:pPr>
            <a:r>
              <a:rPr lang="en-US" sz="1700" b="1" dirty="0">
                <a:solidFill>
                  <a:schemeClr val="tx1"/>
                </a:solidFill>
              </a:rPr>
              <a:t>Example: CVE-2026-33630</a:t>
            </a:r>
            <a:endParaRPr lang="en-US" sz="1700" dirty="0"/>
          </a:p>
        </p:txBody>
      </p:sp>
      <p:sp>
        <p:nvSpPr>
          <p:cNvPr id="21" name="Text 18"/>
          <p:cNvSpPr txBox="1"/>
          <p:nvPr/>
        </p:nvSpPr>
        <p:spPr>
          <a:xfrm>
            <a:off x="1261872" y="5266944"/>
            <a:ext cx="4864608" cy="749808"/>
          </a:xfrm>
          <a:prstGeom prst="rect">
            <a:avLst/>
          </a:prstGeom>
          <a:noFill/>
          <a:ln/>
        </p:spPr>
        <p:txBody>
          <a:bodyPr wrap="square" lIns="0" tIns="0" rIns="0" bIns="0" rtlCol="0" anchor="t"/>
          <a:lstStyle/>
          <a:p>
            <a:pPr indent="0" marL="0">
              <a:buNone/>
            </a:pPr>
            <a:r>
              <a:rPr lang="en-US" sz="1400" dirty="0">
                <a:solidFill>
                  <a:schemeClr val="tx2"/>
                </a:solidFill>
              </a:rPr>
              <a:t>A use-after-free in c-ares, the DNS library curl uses. A fixed package existed, so upgrading removed it.</a:t>
            </a:r>
            <a:endParaRPr lang="en-US" sz="1400" dirty="0"/>
          </a:p>
        </p:txBody>
      </p:sp>
      <p:sp>
        <p:nvSpPr>
          <p:cNvPr id="22" name="icon circle The gate in CI"/>
          <p:cNvSpPr/>
          <p:nvPr/>
        </p:nvSpPr>
        <p:spPr>
          <a:xfrm>
            <a:off x="6291072" y="4937760"/>
            <a:ext cx="512064" cy="512064"/>
          </a:xfrm>
          <a:prstGeom prst="ellipse">
            <a:avLst/>
          </a:prstGeom>
          <a:solidFill>
            <a:schemeClr val="accent3"/>
          </a:solidFill>
          <a:ln w="12700">
            <a:solidFill>
              <a:schemeClr val="accent3"/>
            </a:solidFill>
            <a:prstDash val="solid"/>
          </a:ln>
        </p:spPr>
      </p:sp>
      <p:pic>
        <p:nvPicPr>
          <p:cNvPr id="23" name="icon The gate in CI" descr="preencoded.png">    </p:cNvPr>
          <p:cNvPicPr>
            <a:picLocks noChangeAspect="1"/>
          </p:cNvPicPr>
          <p:nvPr/>
        </p:nvPicPr>
        <p:blipFill>
          <a:blip r:embed="rId2"/>
          <a:stretch>
            <a:fillRect/>
          </a:stretch>
        </p:blipFill>
        <p:spPr>
          <a:xfrm>
            <a:off x="6419088" y="5065776"/>
            <a:ext cx="256032" cy="256032"/>
          </a:xfrm>
          <a:prstGeom prst="rect">
            <a:avLst/>
          </a:prstGeom>
        </p:spPr>
      </p:pic>
      <p:sp>
        <p:nvSpPr>
          <p:cNvPr id="24" name="Text 20"/>
          <p:cNvSpPr txBox="1"/>
          <p:nvPr/>
        </p:nvSpPr>
        <p:spPr>
          <a:xfrm>
            <a:off x="7004304" y="4919472"/>
            <a:ext cx="4636008" cy="329184"/>
          </a:xfrm>
          <a:prstGeom prst="rect">
            <a:avLst/>
          </a:prstGeom>
          <a:noFill/>
          <a:ln/>
        </p:spPr>
        <p:txBody>
          <a:bodyPr wrap="square" lIns="0" tIns="0" rIns="0" bIns="0" rtlCol="0" anchor="t"/>
          <a:lstStyle/>
          <a:p>
            <a:pPr indent="0" marL="0">
              <a:buNone/>
            </a:pPr>
            <a:r>
              <a:rPr lang="en-US" sz="1700" b="1" dirty="0">
                <a:solidFill>
                  <a:schemeClr val="tx1"/>
                </a:solidFill>
              </a:rPr>
              <a:t>The gate in CI</a:t>
            </a:r>
            <a:endParaRPr lang="en-US" sz="1700" dirty="0"/>
          </a:p>
        </p:txBody>
      </p:sp>
      <p:sp>
        <p:nvSpPr>
          <p:cNvPr id="25" name="Text 21"/>
          <p:cNvSpPr txBox="1"/>
          <p:nvPr/>
        </p:nvSpPr>
        <p:spPr>
          <a:xfrm>
            <a:off x="7004304" y="5266944"/>
            <a:ext cx="4636008" cy="749808"/>
          </a:xfrm>
          <a:prstGeom prst="rect">
            <a:avLst/>
          </a:prstGeom>
          <a:noFill/>
          <a:ln/>
        </p:spPr>
        <p:txBody>
          <a:bodyPr wrap="square" lIns="0" tIns="0" rIns="0" bIns="0" rtlCol="0" anchor="t"/>
          <a:lstStyle/>
          <a:p>
            <a:pPr indent="0" marL="0">
              <a:buNone/>
            </a:pPr>
            <a:r>
              <a:rPr lang="en-US" sz="1400" dirty="0">
                <a:solidFill>
                  <a:schemeClr val="tx2"/>
                </a:solidFill>
              </a:rPr>
              <a:t>--severity HIGH,CRITICAL --ignore-unfixed --exit-code 1: a fixable vulnerability fails the build.</a:t>
            </a:r>
            <a:endParaRPr lang="en-US" sz="14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Scanned first, pushed only if clean</a:t>
            </a:r>
            <a:endParaRPr lang="en-US" sz="3400" dirty="0"/>
          </a:p>
        </p:txBody>
      </p:sp>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M5 + M6 · PIPELINE EVIDENCE</a:t>
            </a:r>
            <a:endParaRPr lang="en-US" sz="12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10</a:t>
            </a:fld>
            <a:endParaRPr lang="en-US"/>
          </a:p>
        </p:txBody>
      </p:sp>
      <p:sp>
        <p:nvSpPr>
          <p:cNvPr id="22" name="card 34-actions-trivy-scan.png"/>
          <p:cNvSpPr/>
          <p:nvPr/>
        </p:nvSpPr>
        <p:spPr>
          <a:xfrm>
            <a:off x="548640" y="1645920"/>
            <a:ext cx="5541264" cy="3375398"/>
          </a:xfrm>
          <a:prstGeom prst="roundRect">
            <a:avLst>
              <a:gd name="adj" fmla="val 203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6" name="34-actions-trivy-scan.png" descr="34-actions-trivy-scan.png"/>
          <p:cNvPicPr>
            <a:picLocks noChangeAspect="1"/>
          </p:cNvPicPr>
          <p:nvPr/>
        </p:nvPicPr>
        <p:blipFill>
          <a:blip r:embed="rId2"/>
          <a:stretch>
            <a:fillRect/>
          </a:stretch>
        </p:blipFill>
        <p:spPr>
          <a:xfrm>
            <a:off x="612647" y="1709928"/>
            <a:ext cx="5413248" cy="3247382"/>
          </a:xfrm>
          <a:prstGeom prst="rect">
            <a:avLst/>
          </a:prstGeom>
        </p:spPr>
      </p:pic>
      <p:sp>
        <p:nvSpPr>
          <p:cNvPr id="24" name="caption 34-actions-trivy-scan.png"/>
          <p:cNvSpPr txBox="1"/>
          <p:nvPr/>
        </p:nvSpPr>
        <p:spPr>
          <a:xfrm>
            <a:off x="548640" y="5076182"/>
            <a:ext cx="5541264" cy="256032"/>
          </a:xfrm>
          <a:prstGeom prst="rect">
            <a:avLst/>
          </a:prstGeom>
          <a:noFill/>
          <a:ln/>
        </p:spPr>
        <p:txBody>
          <a:bodyPr wrap="square" lIns="0" tIns="0" rIns="0" bIns="0" rtlCol="0" anchor="ctr"/>
          <a:lstStyle/>
          <a:p>
            <a:pPr algn="ctr" indent="0" marL="0">
              <a:buNone/>
            </a:pPr>
            <a:r>
              <a:rPr lang="en-US" sz="1100" i="1" dirty="0">
                <a:solidFill>
                  <a:schemeClr val="accent6"/>
                </a:solidFill>
              </a:rPr>
              <a:t>Trivy scan step: fresh vulnerability DB, OS + Python packages, secrets</a:t>
            </a:r>
            <a:endParaRPr lang="en-US" sz="1100" dirty="0"/>
          </a:p>
        </p:txBody>
      </p:sp>
      <p:sp>
        <p:nvSpPr>
          <p:cNvPr id="22" name="card 35-actions-ghcr-login-push.png"/>
          <p:cNvSpPr/>
          <p:nvPr/>
        </p:nvSpPr>
        <p:spPr>
          <a:xfrm>
            <a:off x="6101791" y="1645920"/>
            <a:ext cx="5541264" cy="3378223"/>
          </a:xfrm>
          <a:prstGeom prst="roundRect">
            <a:avLst>
              <a:gd name="adj" fmla="val 203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7" name="35-actions-ghcr-login-push.png" descr="35-actions-ghcr-login-push.png"/>
          <p:cNvPicPr>
            <a:picLocks noChangeAspect="1"/>
          </p:cNvPicPr>
          <p:nvPr/>
        </p:nvPicPr>
        <p:blipFill>
          <a:blip r:embed="rId3"/>
          <a:stretch>
            <a:fillRect/>
          </a:stretch>
        </p:blipFill>
        <p:spPr>
          <a:xfrm>
            <a:off x="6165799" y="1709928"/>
            <a:ext cx="5413248" cy="3250207"/>
          </a:xfrm>
          <a:prstGeom prst="rect">
            <a:avLst/>
          </a:prstGeom>
        </p:spPr>
      </p:pic>
      <p:sp>
        <p:nvSpPr>
          <p:cNvPr id="24" name="caption 35-actions-ghcr-login-push.png"/>
          <p:cNvSpPr txBox="1"/>
          <p:nvPr/>
        </p:nvSpPr>
        <p:spPr>
          <a:xfrm>
            <a:off x="6101791" y="5079007"/>
            <a:ext cx="5541264" cy="256032"/>
          </a:xfrm>
          <a:prstGeom prst="rect">
            <a:avLst/>
          </a:prstGeom>
          <a:noFill/>
          <a:ln/>
        </p:spPr>
        <p:txBody>
          <a:bodyPr wrap="square" lIns="0" tIns="0" rIns="0" bIns="0" rtlCol="0" anchor="ctr"/>
          <a:lstStyle/>
          <a:p>
            <a:pPr algn="ctr" indent="0" marL="0">
              <a:buNone/>
            </a:pPr>
            <a:r>
              <a:rPr lang="en-US" sz="1100" i="1" dirty="0">
                <a:solidFill>
                  <a:schemeClr val="accent6"/>
                </a:solidFill>
              </a:rPr>
              <a:t>Then the job logs in to ghcr.io with GITHUB_TOKEN and pushes</a:t>
            </a:r>
            <a:endParaRPr lang="en-US" sz="1100" dirty="0"/>
          </a:p>
        </p:txBody>
      </p:sp>
      <p:sp>
        <p:nvSpPr>
          <p:cNvPr id="21" name="pipeline note"/>
          <p:cNvSpPr txBox="1"/>
          <p:nvPr/>
        </p:nvSpPr>
        <p:spPr>
          <a:xfrm>
            <a:off x="548640" y="5623560"/>
            <a:ext cx="11091672" cy="548640"/>
          </a:xfrm>
          <a:prstGeom prst="rect">
            <a:avLst/>
          </a:prstGeom>
          <a:noFill/>
          <a:ln/>
        </p:spPr>
        <p:txBody>
          <a:bodyPr wrap="square" lIns="0" tIns="0" rIns="0" bIns="0" rtlCol="0" anchor="t"/>
          <a:lstStyle/>
          <a:p>
            <a:pPr indent="0" marL="0">
              <a:buNone/>
            </a:pPr>
            <a:r>
              <a:rPr lang="en-US" sz="1400" dirty="0">
                <a:solidFill>
                  <a:schemeClr val="tx2"/>
                </a:solidFill>
              </a:rPr>
              <a:t>The Trivy step runs with --exit-code 1 before the GHCR login: a fixable HIGH or CRITICAL CVE stops the job, so a vulnerable image is never pushed.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M7 · TERRAFORM · 15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AWS VPC and EKS, written as code</a:t>
            </a:r>
            <a:endParaRPr lang="en-US" sz="3400" dirty="0"/>
          </a:p>
        </p:txBody>
      </p:sp>
      <p:sp>
        <p:nvSpPr>
          <p:cNvPr id="4" name="stat 25"/>
          <p:cNvSpPr/>
          <p:nvPr/>
        </p:nvSpPr>
        <p:spPr>
          <a:xfrm>
            <a:off x="548640" y="1645920"/>
            <a:ext cx="2377440" cy="1143000"/>
          </a:xfrm>
          <a:prstGeom prst="roundRect">
            <a:avLst>
              <a:gd name="adj" fmla="val 8000"/>
            </a:avLst>
          </a:prstGeom>
          <a:solidFill>
            <a:schemeClr val="bg2"/>
          </a:solidFill>
          <a:ln w="12700">
            <a:solidFill>
              <a:schemeClr val="bg2"/>
            </a:solidFill>
            <a:prstDash val="solid"/>
          </a:ln>
        </p:spPr>
      </p:sp>
      <p:sp>
        <p:nvSpPr>
          <p:cNvPr id="5" name="Text 3"/>
          <p:cNvSpPr txBox="1"/>
          <p:nvPr/>
        </p:nvSpPr>
        <p:spPr>
          <a:xfrm>
            <a:off x="777240" y="1755648"/>
            <a:ext cx="1920240" cy="594360"/>
          </a:xfrm>
          <a:prstGeom prst="rect">
            <a:avLst/>
          </a:prstGeom>
          <a:noFill/>
          <a:ln/>
        </p:spPr>
        <p:txBody>
          <a:bodyPr wrap="square" lIns="0" tIns="0" rIns="0" bIns="0" rtlCol="0" anchor="ctr"/>
          <a:lstStyle/>
          <a:p>
            <a:pPr indent="0" marL="0">
              <a:buNone/>
            </a:pPr>
            <a:r>
              <a:rPr lang="en-US" sz="4400" b="1" dirty="0">
                <a:solidFill>
                  <a:schemeClr val="accent1"/>
                </a:solidFill>
                <a:latin typeface="Arial" pitchFamily="34" charset="0"/>
                <a:ea typeface="Arial" pitchFamily="34" charset="-122"/>
                <a:cs typeface="Arial" pitchFamily="34" charset="-120"/>
              </a:rPr>
              <a:t>25</a:t>
            </a:r>
            <a:endParaRPr lang="en-US" sz="4400" dirty="0"/>
          </a:p>
        </p:txBody>
      </p:sp>
      <p:sp>
        <p:nvSpPr>
          <p:cNvPr id="6" name="Text 4"/>
          <p:cNvSpPr txBox="1"/>
          <p:nvPr/>
        </p:nvSpPr>
        <p:spPr>
          <a:xfrm>
            <a:off x="777240" y="2359152"/>
            <a:ext cx="1920240" cy="347472"/>
          </a:xfrm>
          <a:prstGeom prst="rect">
            <a:avLst/>
          </a:prstGeom>
          <a:noFill/>
          <a:ln/>
        </p:spPr>
        <p:txBody>
          <a:bodyPr wrap="square" lIns="0" tIns="0" rIns="0" bIns="0" rtlCol="0" anchor="t"/>
          <a:lstStyle/>
          <a:p>
            <a:pPr indent="0" marL="0">
              <a:buNone/>
            </a:pPr>
            <a:r>
              <a:rPr lang="en-US" sz="1400" dirty="0">
                <a:solidFill>
                  <a:schemeClr val="tx2"/>
                </a:solidFill>
              </a:rPr>
              <a:t>resources planned</a:t>
            </a:r>
            <a:endParaRPr lang="en-US" sz="1400" dirty="0"/>
          </a:p>
        </p:txBody>
      </p:sp>
      <p:sp>
        <p:nvSpPr>
          <p:cNvPr id="7" name="stat 2 AZs"/>
          <p:cNvSpPr/>
          <p:nvPr/>
        </p:nvSpPr>
        <p:spPr>
          <a:xfrm>
            <a:off x="3108960" y="1645920"/>
            <a:ext cx="2377440" cy="1143000"/>
          </a:xfrm>
          <a:prstGeom prst="roundRect">
            <a:avLst>
              <a:gd name="adj" fmla="val 8000"/>
            </a:avLst>
          </a:prstGeom>
          <a:solidFill>
            <a:schemeClr val="bg2"/>
          </a:solidFill>
          <a:ln w="12700">
            <a:solidFill>
              <a:schemeClr val="bg2"/>
            </a:solidFill>
            <a:prstDash val="solid"/>
          </a:ln>
        </p:spPr>
      </p:sp>
      <p:sp>
        <p:nvSpPr>
          <p:cNvPr id="8" name="Text 6"/>
          <p:cNvSpPr txBox="1"/>
          <p:nvPr/>
        </p:nvSpPr>
        <p:spPr>
          <a:xfrm>
            <a:off x="3337560" y="1755648"/>
            <a:ext cx="1920240" cy="59436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2 AZs</a:t>
            </a:r>
            <a:endParaRPr lang="en-US" sz="3600" dirty="0"/>
          </a:p>
        </p:txBody>
      </p:sp>
      <p:sp>
        <p:nvSpPr>
          <p:cNvPr id="9" name="Text 7"/>
          <p:cNvSpPr txBox="1"/>
          <p:nvPr/>
        </p:nvSpPr>
        <p:spPr>
          <a:xfrm>
            <a:off x="3337560" y="2359152"/>
            <a:ext cx="1920240" cy="347472"/>
          </a:xfrm>
          <a:prstGeom prst="rect">
            <a:avLst/>
          </a:prstGeom>
          <a:noFill/>
          <a:ln/>
        </p:spPr>
        <p:txBody>
          <a:bodyPr wrap="square" lIns="0" tIns="0" rIns="0" bIns="0" rtlCol="0" anchor="t"/>
          <a:lstStyle/>
          <a:p>
            <a:pPr indent="0" marL="0">
              <a:buNone/>
            </a:pPr>
            <a:r>
              <a:rPr lang="en-US" sz="1400" dirty="0">
                <a:solidFill>
                  <a:schemeClr val="tx2"/>
                </a:solidFill>
              </a:rPr>
              <a:t>ap-south-1a / 1b</a:t>
            </a:r>
            <a:endParaRPr lang="en-US" sz="1400" dirty="0"/>
          </a:p>
        </p:txBody>
      </p:sp>
      <p:sp>
        <p:nvSpPr>
          <p:cNvPr id="10" name="icon circle Network"/>
          <p:cNvSpPr/>
          <p:nvPr/>
        </p:nvSpPr>
        <p:spPr>
          <a:xfrm>
            <a:off x="548640" y="3063240"/>
            <a:ext cx="512064" cy="512064"/>
          </a:xfrm>
          <a:prstGeom prst="ellipse">
            <a:avLst/>
          </a:prstGeom>
          <a:solidFill>
            <a:schemeClr val="accent1"/>
          </a:solidFill>
          <a:ln w="12700">
            <a:solidFill>
              <a:schemeClr val="accent1"/>
            </a:solidFill>
            <a:prstDash val="solid"/>
          </a:ln>
        </p:spPr>
      </p:sp>
      <p:pic>
        <p:nvPicPr>
          <p:cNvPr id="11" name="icon Network" descr="preencoded.png">    </p:cNvPr>
          <p:cNvPicPr>
            <a:picLocks noChangeAspect="1"/>
          </p:cNvPicPr>
          <p:nvPr/>
        </p:nvPicPr>
        <p:blipFill>
          <a:blip r:embed="rId1"/>
          <a:stretch>
            <a:fillRect/>
          </a:stretch>
        </p:blipFill>
        <p:spPr>
          <a:xfrm>
            <a:off x="676656" y="3191256"/>
            <a:ext cx="256032" cy="256032"/>
          </a:xfrm>
          <a:prstGeom prst="rect">
            <a:avLst/>
          </a:prstGeom>
        </p:spPr>
      </p:pic>
      <p:sp>
        <p:nvSpPr>
          <p:cNvPr id="12" name="Text 9"/>
          <p:cNvSpPr txBox="1"/>
          <p:nvPr/>
        </p:nvSpPr>
        <p:spPr>
          <a:xfrm>
            <a:off x="1261872" y="3044952"/>
            <a:ext cx="4224528" cy="329184"/>
          </a:xfrm>
          <a:prstGeom prst="rect">
            <a:avLst/>
          </a:prstGeom>
          <a:noFill/>
          <a:ln/>
        </p:spPr>
        <p:txBody>
          <a:bodyPr wrap="square" lIns="0" tIns="0" rIns="0" bIns="0" rtlCol="0" anchor="t"/>
          <a:lstStyle/>
          <a:p>
            <a:pPr indent="0" marL="0">
              <a:buNone/>
            </a:pPr>
            <a:r>
              <a:rPr lang="en-US" sz="1700" b="1" dirty="0">
                <a:solidFill>
                  <a:schemeClr val="tx1"/>
                </a:solidFill>
              </a:rPr>
              <a:t>Network</a:t>
            </a:r>
            <a:endParaRPr lang="en-US" sz="1700" dirty="0"/>
          </a:p>
        </p:txBody>
      </p:sp>
      <p:sp>
        <p:nvSpPr>
          <p:cNvPr id="13" name="Text 10"/>
          <p:cNvSpPr txBox="1"/>
          <p:nvPr/>
        </p:nvSpPr>
        <p:spPr>
          <a:xfrm>
            <a:off x="1261872" y="3392424"/>
            <a:ext cx="4224528" cy="749808"/>
          </a:xfrm>
          <a:prstGeom prst="rect">
            <a:avLst/>
          </a:prstGeom>
          <a:noFill/>
          <a:ln/>
        </p:spPr>
        <p:txBody>
          <a:bodyPr wrap="square" lIns="0" tIns="0" rIns="0" bIns="0" rtlCol="0" anchor="t"/>
          <a:lstStyle/>
          <a:p>
            <a:pPr indent="0" marL="0">
              <a:buNone/>
            </a:pPr>
            <a:r>
              <a:rPr lang="en-US" sz="1400" dirty="0">
                <a:solidFill>
                  <a:schemeClr val="tx2"/>
                </a:solidFill>
              </a:rPr>
              <a:t>VPC 10.30.0.0/16, two public and two private subnets, internet gateway, NAT gateway, route tables.</a:t>
            </a:r>
            <a:endParaRPr lang="en-US" sz="1400" dirty="0"/>
          </a:p>
        </p:txBody>
      </p:sp>
      <p:sp>
        <p:nvSpPr>
          <p:cNvPr id="14" name="icon circle EKS"/>
          <p:cNvSpPr/>
          <p:nvPr/>
        </p:nvSpPr>
        <p:spPr>
          <a:xfrm>
            <a:off x="548640" y="4206240"/>
            <a:ext cx="512064" cy="512064"/>
          </a:xfrm>
          <a:prstGeom prst="ellipse">
            <a:avLst/>
          </a:prstGeom>
          <a:solidFill>
            <a:schemeClr val="accent1"/>
          </a:solidFill>
          <a:ln w="12700">
            <a:solidFill>
              <a:schemeClr val="accent1"/>
            </a:solidFill>
            <a:prstDash val="solid"/>
          </a:ln>
        </p:spPr>
      </p:sp>
      <p:pic>
        <p:nvPicPr>
          <p:cNvPr id="15" name="icon EKS" descr="preencoded.png">    </p:cNvPr>
          <p:cNvPicPr>
            <a:picLocks noChangeAspect="1"/>
          </p:cNvPicPr>
          <p:nvPr/>
        </p:nvPicPr>
        <p:blipFill>
          <a:blip r:embed="rId2"/>
          <a:stretch>
            <a:fillRect/>
          </a:stretch>
        </p:blipFill>
        <p:spPr>
          <a:xfrm>
            <a:off x="676656" y="4334256"/>
            <a:ext cx="256032" cy="256032"/>
          </a:xfrm>
          <a:prstGeom prst="rect">
            <a:avLst/>
          </a:prstGeom>
        </p:spPr>
      </p:pic>
      <p:sp>
        <p:nvSpPr>
          <p:cNvPr id="16" name="Text 12"/>
          <p:cNvSpPr txBox="1"/>
          <p:nvPr/>
        </p:nvSpPr>
        <p:spPr>
          <a:xfrm>
            <a:off x="1261872" y="4187952"/>
            <a:ext cx="4224528" cy="329184"/>
          </a:xfrm>
          <a:prstGeom prst="rect">
            <a:avLst/>
          </a:prstGeom>
          <a:noFill/>
          <a:ln/>
        </p:spPr>
        <p:txBody>
          <a:bodyPr wrap="square" lIns="0" tIns="0" rIns="0" bIns="0" rtlCol="0" anchor="t"/>
          <a:lstStyle/>
          <a:p>
            <a:pPr indent="0" marL="0">
              <a:buNone/>
            </a:pPr>
            <a:r>
              <a:rPr lang="en-US" sz="1700" b="1" dirty="0">
                <a:solidFill>
                  <a:schemeClr val="tx1"/>
                </a:solidFill>
              </a:rPr>
              <a:t>EKS</a:t>
            </a:r>
            <a:endParaRPr lang="en-US" sz="1700" dirty="0"/>
          </a:p>
        </p:txBody>
      </p:sp>
      <p:sp>
        <p:nvSpPr>
          <p:cNvPr id="17" name="Text 13"/>
          <p:cNvSpPr txBox="1"/>
          <p:nvPr/>
        </p:nvSpPr>
        <p:spPr>
          <a:xfrm>
            <a:off x="1261872" y="4535424"/>
            <a:ext cx="4224528" cy="749808"/>
          </a:xfrm>
          <a:prstGeom prst="rect">
            <a:avLst/>
          </a:prstGeom>
          <a:noFill/>
          <a:ln/>
        </p:spPr>
        <p:txBody>
          <a:bodyPr wrap="square" lIns="0" tIns="0" rIns="0" bIns="0" rtlCol="0" anchor="t"/>
          <a:lstStyle/>
          <a:p>
            <a:pPr indent="0" marL="0">
              <a:buNone/>
            </a:pPr>
            <a:r>
              <a:rPr lang="en-US" sz="1400" dirty="0">
                <a:solidFill>
                  <a:schemeClr val="tx2"/>
                </a:solidFill>
              </a:rPr>
              <a:t>Cluster, IAM roles, managed node group of 2–4 × t3.medium in private subnets, EBS CSI and metrics-server add-ons.</a:t>
            </a:r>
            <a:endParaRPr lang="en-US" sz="1400" dirty="0"/>
          </a:p>
        </p:txBody>
      </p:sp>
      <p:sp>
        <p:nvSpPr>
          <p:cNvPr id="18" name="Text 14"/>
          <p:cNvSpPr txBox="1"/>
          <p:nvPr/>
        </p:nvSpPr>
        <p:spPr>
          <a:xfrm>
            <a:off x="548640" y="5349240"/>
            <a:ext cx="4937760" cy="868680"/>
          </a:xfrm>
          <a:prstGeom prst="rect">
            <a:avLst/>
          </a:prstGeom>
          <a:noFill/>
          <a:ln/>
        </p:spPr>
        <p:txBody>
          <a:bodyPr wrap="square" lIns="0" tIns="0" rIns="0" bIns="0" rtlCol="0" anchor="t"/>
          <a:lstStyle/>
          <a:p>
            <a:pPr indent="0" marL="0">
              <a:buNone/>
            </a:pPr>
            <a:r>
              <a:rPr lang="en-US" sz="1400" b="1" dirty="0">
                <a:solidFill>
                  <a:schemeClr val="accent4"/>
                </a:solidFill>
              </a:rPr>
              <a:t>Planned, not applied: </a:t>
            </a:r>
            <a:pPr indent="0" marL="0">
              <a:buNone/>
            </a:pPr>
            <a:r>
              <a:rPr lang="en-US" sz="1400" dirty="0">
                <a:solidFill>
                  <a:schemeClr val="tx2"/>
                </a:solidFill>
              </a:rPr>
              <a:t>no AWS account was used, so plan runs offline with dummy keys. Nothing was created, so nothing costs money; plan -destroy confirms it.</a:t>
            </a:r>
            <a:endParaRPr lang="en-US" sz="1400" dirty="0"/>
          </a:p>
        </p:txBody>
      </p:sp>
      <p:sp>
        <p:nvSpPr>
          <p:cNvPr id="19" name="card 15-terraform-plan.png"/>
          <p:cNvSpPr/>
          <p:nvPr/>
        </p:nvSpPr>
        <p:spPr>
          <a:xfrm>
            <a:off x="5915323" y="1600200"/>
            <a:ext cx="5661826" cy="4261104"/>
          </a:xfrm>
          <a:prstGeom prst="roundRect">
            <a:avLst>
              <a:gd name="adj" fmla="val 1717"/>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0" name="15-terraform-plan.png" descr="terraform plan: 25 to add, 0 to change, 0 to destroy">    </p:cNvPr>
          <p:cNvPicPr>
            <a:picLocks noChangeAspect="1"/>
          </p:cNvPicPr>
          <p:nvPr/>
        </p:nvPicPr>
        <p:blipFill>
          <a:blip r:embed="rId3"/>
          <a:stretch>
            <a:fillRect/>
          </a:stretch>
        </p:blipFill>
        <p:spPr>
          <a:xfrm>
            <a:off x="5979331" y="1664208"/>
            <a:ext cx="5533810" cy="4133088"/>
          </a:xfrm>
          <a:prstGeom prst="rect">
            <a:avLst/>
          </a:prstGeom>
        </p:spPr>
      </p:pic>
      <p:sp>
        <p:nvSpPr>
          <p:cNvPr id="21" name="caption 15-terraform-plan.png"/>
          <p:cNvSpPr txBox="1"/>
          <p:nvPr/>
        </p:nvSpPr>
        <p:spPr>
          <a:xfrm>
            <a:off x="5915323" y="5916168"/>
            <a:ext cx="5661826" cy="256032"/>
          </a:xfrm>
          <a:prstGeom prst="rect">
            <a:avLst/>
          </a:prstGeom>
          <a:noFill/>
          <a:ln/>
        </p:spPr>
        <p:txBody>
          <a:bodyPr wrap="square" lIns="0" tIns="0" rIns="0" bIns="0" rtlCol="0" anchor="ctr"/>
          <a:lstStyle/>
          <a:p>
            <a:pPr algn="ctr" indent="0" marL="0">
              <a:buNone/>
            </a:pPr>
            <a:r>
              <a:rPr lang="en-US" sz="1100" i="1" dirty="0">
                <a:solidFill>
                  <a:schemeClr val="accent6"/>
                </a:solidFill>
              </a:rPr>
              <a:t>terraform plan: 25 to add, 0 to change, 0 to destroy</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M8 · KUBERNETES + HELM · 15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One Helm chart, running on kind</a:t>
            </a:r>
            <a:endParaRPr lang="en-US" sz="3400" dirty="0"/>
          </a:p>
        </p:txBody>
      </p:sp>
      <p:sp>
        <p:nvSpPr>
          <p:cNvPr id="4" name="k8s icon bg Deployments"/>
          <p:cNvSpPr/>
          <p:nvPr/>
        </p:nvSpPr>
        <p:spPr>
          <a:xfrm>
            <a:off x="548640" y="1645920"/>
            <a:ext cx="512064" cy="512064"/>
          </a:xfrm>
          <a:prstGeom prst="ellipse">
            <a:avLst/>
          </a:prstGeom>
          <a:solidFill>
            <a:schemeClr val="accent1"/>
          </a:solidFill>
          <a:ln w="12700">
            <a:solidFill>
              <a:schemeClr val="accent1"/>
            </a:solidFill>
            <a:prstDash val="solid"/>
          </a:ln>
        </p:spPr>
      </p:sp>
      <p:pic>
        <p:nvPicPr>
          <p:cNvPr id="5" name="k8s icon Deployments" descr="preencoded.png">    </p:cNvPr>
          <p:cNvPicPr>
            <a:picLocks noChangeAspect="1"/>
          </p:cNvPicPr>
          <p:nvPr/>
        </p:nvPicPr>
        <p:blipFill>
          <a:blip r:embed="rId1"/>
          <a:stretch>
            <a:fillRect/>
          </a:stretch>
        </p:blipFill>
        <p:spPr>
          <a:xfrm>
            <a:off x="676656" y="1773936"/>
            <a:ext cx="256032" cy="256032"/>
          </a:xfrm>
          <a:prstGeom prst="rect">
            <a:avLst/>
          </a:prstGeom>
        </p:spPr>
      </p:pic>
      <p:sp>
        <p:nvSpPr>
          <p:cNvPr id="6" name="Text 3"/>
          <p:cNvSpPr txBox="1"/>
          <p:nvPr/>
        </p:nvSpPr>
        <p:spPr>
          <a:xfrm>
            <a:off x="1261872" y="1627632"/>
            <a:ext cx="3566160" cy="329184"/>
          </a:xfrm>
          <a:prstGeom prst="rect">
            <a:avLst/>
          </a:prstGeom>
          <a:noFill/>
          <a:ln/>
        </p:spPr>
        <p:txBody>
          <a:bodyPr wrap="square" lIns="0" tIns="0" rIns="0" bIns="0" rtlCol="0" anchor="ctr"/>
          <a:lstStyle/>
          <a:p>
            <a:pPr indent="0" marL="0">
              <a:buNone/>
            </a:pPr>
            <a:r>
              <a:rPr lang="en-US" sz="1700" b="1" dirty="0">
                <a:solidFill>
                  <a:schemeClr val="tx1"/>
                </a:solidFill>
              </a:rPr>
              <a:t>Deployments</a:t>
            </a:r>
            <a:endParaRPr lang="en-US" sz="1700" dirty="0"/>
          </a:p>
        </p:txBody>
      </p:sp>
      <p:sp>
        <p:nvSpPr>
          <p:cNvPr id="7" name="Text 4"/>
          <p:cNvSpPr txBox="1"/>
          <p:nvPr/>
        </p:nvSpPr>
        <p:spPr>
          <a:xfrm>
            <a:off x="1261872" y="1975104"/>
            <a:ext cx="3566160" cy="685800"/>
          </a:xfrm>
          <a:prstGeom prst="rect">
            <a:avLst/>
          </a:prstGeom>
          <a:noFill/>
          <a:ln/>
        </p:spPr>
        <p:txBody>
          <a:bodyPr wrap="square" lIns="0" tIns="0" rIns="0" bIns="0" rtlCol="0" anchor="t"/>
          <a:lstStyle/>
          <a:p>
            <a:pPr indent="0" marL="0">
              <a:buNone/>
            </a:pPr>
            <a:r>
              <a:rPr lang="en-US" sz="1400" dirty="0">
                <a:solidFill>
                  <a:schemeClr val="tx2"/>
                </a:solidFill>
              </a:rPr>
              <a:t>backend 2–5 pods, frontend 2 pods; rolling updates with maxUnavailable 0</a:t>
            </a:r>
            <a:endParaRPr lang="en-US" sz="1400" dirty="0"/>
          </a:p>
        </p:txBody>
      </p:sp>
      <p:sp>
        <p:nvSpPr>
          <p:cNvPr id="8" name="k8s icon bg StatefulSet"/>
          <p:cNvSpPr/>
          <p:nvPr/>
        </p:nvSpPr>
        <p:spPr>
          <a:xfrm>
            <a:off x="548640" y="2761488"/>
            <a:ext cx="512064" cy="512064"/>
          </a:xfrm>
          <a:prstGeom prst="ellipse">
            <a:avLst/>
          </a:prstGeom>
          <a:solidFill>
            <a:schemeClr val="accent1"/>
          </a:solidFill>
          <a:ln w="12700">
            <a:solidFill>
              <a:schemeClr val="accent1"/>
            </a:solidFill>
            <a:prstDash val="solid"/>
          </a:ln>
        </p:spPr>
      </p:sp>
      <p:pic>
        <p:nvPicPr>
          <p:cNvPr id="9" name="k8s icon StatefulSet" descr="preencoded.png">    </p:cNvPr>
          <p:cNvPicPr>
            <a:picLocks noChangeAspect="1"/>
          </p:cNvPicPr>
          <p:nvPr/>
        </p:nvPicPr>
        <p:blipFill>
          <a:blip r:embed="rId2"/>
          <a:stretch>
            <a:fillRect/>
          </a:stretch>
        </p:blipFill>
        <p:spPr>
          <a:xfrm>
            <a:off x="676656" y="2889504"/>
            <a:ext cx="256032" cy="256032"/>
          </a:xfrm>
          <a:prstGeom prst="rect">
            <a:avLst/>
          </a:prstGeom>
        </p:spPr>
      </p:pic>
      <p:sp>
        <p:nvSpPr>
          <p:cNvPr id="10" name="Text 6"/>
          <p:cNvSpPr txBox="1"/>
          <p:nvPr/>
        </p:nvSpPr>
        <p:spPr>
          <a:xfrm>
            <a:off x="1261872" y="2743200"/>
            <a:ext cx="3566160" cy="329184"/>
          </a:xfrm>
          <a:prstGeom prst="rect">
            <a:avLst/>
          </a:prstGeom>
          <a:noFill/>
          <a:ln/>
        </p:spPr>
        <p:txBody>
          <a:bodyPr wrap="square" lIns="0" tIns="0" rIns="0" bIns="0" rtlCol="0" anchor="ctr"/>
          <a:lstStyle/>
          <a:p>
            <a:pPr indent="0" marL="0">
              <a:buNone/>
            </a:pPr>
            <a:r>
              <a:rPr lang="en-US" sz="1700" b="1" dirty="0">
                <a:solidFill>
                  <a:schemeClr val="tx1"/>
                </a:solidFill>
              </a:rPr>
              <a:t>StatefulSet</a:t>
            </a:r>
            <a:endParaRPr lang="en-US" sz="1700" dirty="0"/>
          </a:p>
        </p:txBody>
      </p:sp>
      <p:sp>
        <p:nvSpPr>
          <p:cNvPr id="11" name="Text 7"/>
          <p:cNvSpPr txBox="1"/>
          <p:nvPr/>
        </p:nvSpPr>
        <p:spPr>
          <a:xfrm>
            <a:off x="1261872" y="3090672"/>
            <a:ext cx="3566160" cy="685800"/>
          </a:xfrm>
          <a:prstGeom prst="rect">
            <a:avLst/>
          </a:prstGeom>
          <a:noFill/>
          <a:ln/>
        </p:spPr>
        <p:txBody>
          <a:bodyPr wrap="square" lIns="0" tIns="0" rIns="0" bIns="0" rtlCol="0" anchor="t"/>
          <a:lstStyle/>
          <a:p>
            <a:pPr indent="0" marL="0">
              <a:buNone/>
            </a:pPr>
            <a:r>
              <a:rPr lang="en-US" sz="1400" dirty="0">
                <a:solidFill>
                  <a:schemeClr val="tx2"/>
                </a:solidFill>
              </a:rPr>
              <a:t>PostgreSQL 16 with a 1 Gi persistent volume</a:t>
            </a:r>
            <a:endParaRPr lang="en-US" sz="1400" dirty="0"/>
          </a:p>
        </p:txBody>
      </p:sp>
      <p:sp>
        <p:nvSpPr>
          <p:cNvPr id="12" name="k8s icon bg Services + Ingress"/>
          <p:cNvSpPr/>
          <p:nvPr/>
        </p:nvSpPr>
        <p:spPr>
          <a:xfrm>
            <a:off x="548640" y="3877056"/>
            <a:ext cx="512064" cy="512064"/>
          </a:xfrm>
          <a:prstGeom prst="ellipse">
            <a:avLst/>
          </a:prstGeom>
          <a:solidFill>
            <a:schemeClr val="accent1"/>
          </a:solidFill>
          <a:ln w="12700">
            <a:solidFill>
              <a:schemeClr val="accent1"/>
            </a:solidFill>
            <a:prstDash val="solid"/>
          </a:ln>
        </p:spPr>
      </p:sp>
      <p:pic>
        <p:nvPicPr>
          <p:cNvPr id="13" name="k8s icon Services + Ingress" descr="preencoded.png">    </p:cNvPr>
          <p:cNvPicPr>
            <a:picLocks noChangeAspect="1"/>
          </p:cNvPicPr>
          <p:nvPr/>
        </p:nvPicPr>
        <p:blipFill>
          <a:blip r:embed="rId3"/>
          <a:stretch>
            <a:fillRect/>
          </a:stretch>
        </p:blipFill>
        <p:spPr>
          <a:xfrm>
            <a:off x="676656" y="4005072"/>
            <a:ext cx="256032" cy="256032"/>
          </a:xfrm>
          <a:prstGeom prst="rect">
            <a:avLst/>
          </a:prstGeom>
        </p:spPr>
      </p:pic>
      <p:sp>
        <p:nvSpPr>
          <p:cNvPr id="14" name="Text 9"/>
          <p:cNvSpPr txBox="1"/>
          <p:nvPr/>
        </p:nvSpPr>
        <p:spPr>
          <a:xfrm>
            <a:off x="1261872" y="3858768"/>
            <a:ext cx="3566160" cy="329184"/>
          </a:xfrm>
          <a:prstGeom prst="rect">
            <a:avLst/>
          </a:prstGeom>
          <a:noFill/>
          <a:ln/>
        </p:spPr>
        <p:txBody>
          <a:bodyPr wrap="square" lIns="0" tIns="0" rIns="0" bIns="0" rtlCol="0" anchor="ctr"/>
          <a:lstStyle/>
          <a:p>
            <a:pPr indent="0" marL="0">
              <a:buNone/>
            </a:pPr>
            <a:r>
              <a:rPr lang="en-US" sz="1700" b="1" dirty="0">
                <a:solidFill>
                  <a:schemeClr val="tx1"/>
                </a:solidFill>
              </a:rPr>
              <a:t>Services + Ingress</a:t>
            </a:r>
            <a:endParaRPr lang="en-US" sz="1700" dirty="0"/>
          </a:p>
        </p:txBody>
      </p:sp>
      <p:sp>
        <p:nvSpPr>
          <p:cNvPr id="15" name="Text 10"/>
          <p:cNvSpPr txBox="1"/>
          <p:nvPr/>
        </p:nvSpPr>
        <p:spPr>
          <a:xfrm>
            <a:off x="1261872" y="4206240"/>
            <a:ext cx="3566160" cy="685800"/>
          </a:xfrm>
          <a:prstGeom prst="rect">
            <a:avLst/>
          </a:prstGeom>
          <a:noFill/>
          <a:ln/>
        </p:spPr>
        <p:txBody>
          <a:bodyPr wrap="square" lIns="0" tIns="0" rIns="0" bIns="0" rtlCol="0" anchor="t"/>
          <a:lstStyle/>
          <a:p>
            <a:pPr indent="0" marL="0">
              <a:buNone/>
            </a:pPr>
            <a:r>
              <a:rPr lang="en-US" sz="1400" dirty="0">
                <a:solidFill>
                  <a:schemeClr val="tx2"/>
                </a:solidFill>
              </a:rPr>
              <a:t>ClusterIP services; / → frontend, /api → backend</a:t>
            </a:r>
            <a:endParaRPr lang="en-US" sz="1400" dirty="0"/>
          </a:p>
        </p:txBody>
      </p:sp>
      <p:sp>
        <p:nvSpPr>
          <p:cNvPr id="16" name="k8s icon bg HPA"/>
          <p:cNvSpPr/>
          <p:nvPr/>
        </p:nvSpPr>
        <p:spPr>
          <a:xfrm>
            <a:off x="548640" y="4992624"/>
            <a:ext cx="512064" cy="512064"/>
          </a:xfrm>
          <a:prstGeom prst="ellipse">
            <a:avLst/>
          </a:prstGeom>
          <a:solidFill>
            <a:schemeClr val="accent1"/>
          </a:solidFill>
          <a:ln w="12700">
            <a:solidFill>
              <a:schemeClr val="accent1"/>
            </a:solidFill>
            <a:prstDash val="solid"/>
          </a:ln>
        </p:spPr>
      </p:sp>
      <p:pic>
        <p:nvPicPr>
          <p:cNvPr id="17" name="k8s icon HPA" descr="preencoded.png">    </p:cNvPr>
          <p:cNvPicPr>
            <a:picLocks noChangeAspect="1"/>
          </p:cNvPicPr>
          <p:nvPr/>
        </p:nvPicPr>
        <p:blipFill>
          <a:blip r:embed="rId4"/>
          <a:stretch>
            <a:fillRect/>
          </a:stretch>
        </p:blipFill>
        <p:spPr>
          <a:xfrm>
            <a:off x="676656" y="5120640"/>
            <a:ext cx="256032" cy="256032"/>
          </a:xfrm>
          <a:prstGeom prst="rect">
            <a:avLst/>
          </a:prstGeom>
        </p:spPr>
      </p:pic>
      <p:sp>
        <p:nvSpPr>
          <p:cNvPr id="18" name="Text 12"/>
          <p:cNvSpPr txBox="1"/>
          <p:nvPr/>
        </p:nvSpPr>
        <p:spPr>
          <a:xfrm>
            <a:off x="1261872" y="4974336"/>
            <a:ext cx="3566160" cy="329184"/>
          </a:xfrm>
          <a:prstGeom prst="rect">
            <a:avLst/>
          </a:prstGeom>
          <a:noFill/>
          <a:ln/>
        </p:spPr>
        <p:txBody>
          <a:bodyPr wrap="square" lIns="0" tIns="0" rIns="0" bIns="0" rtlCol="0" anchor="ctr"/>
          <a:lstStyle/>
          <a:p>
            <a:pPr indent="0" marL="0">
              <a:buNone/>
            </a:pPr>
            <a:r>
              <a:rPr lang="en-US" sz="1700" b="1" dirty="0">
                <a:solidFill>
                  <a:schemeClr val="tx1"/>
                </a:solidFill>
              </a:rPr>
              <a:t>HPA</a:t>
            </a:r>
            <a:endParaRPr lang="en-US" sz="1700" dirty="0"/>
          </a:p>
        </p:txBody>
      </p:sp>
      <p:sp>
        <p:nvSpPr>
          <p:cNvPr id="19" name="Text 13"/>
          <p:cNvSpPr txBox="1"/>
          <p:nvPr/>
        </p:nvSpPr>
        <p:spPr>
          <a:xfrm>
            <a:off x="1261872" y="5321808"/>
            <a:ext cx="3566160" cy="685800"/>
          </a:xfrm>
          <a:prstGeom prst="rect">
            <a:avLst/>
          </a:prstGeom>
          <a:noFill/>
          <a:ln/>
        </p:spPr>
        <p:txBody>
          <a:bodyPr wrap="square" lIns="0" tIns="0" rIns="0" bIns="0" rtlCol="0" anchor="t"/>
          <a:lstStyle/>
          <a:p>
            <a:pPr indent="0" marL="0">
              <a:buNone/>
            </a:pPr>
            <a:r>
              <a:rPr lang="en-US" sz="1400" dirty="0">
                <a:solidFill>
                  <a:schemeClr val="tx2"/>
                </a:solidFill>
              </a:rPr>
              <a:t>scales the backend on 60% CPU</a:t>
            </a:r>
            <a:endParaRPr lang="en-US" sz="1400" dirty="0"/>
          </a:p>
        </p:txBody>
      </p:sp>
      <p:sp>
        <p:nvSpPr>
          <p:cNvPr id="20" name="card 21-kubectl-pods-svc-helm.png"/>
          <p:cNvSpPr/>
          <p:nvPr/>
        </p:nvSpPr>
        <p:spPr>
          <a:xfrm>
            <a:off x="5120640" y="1600200"/>
            <a:ext cx="6519672" cy="2194570"/>
          </a:xfrm>
          <a:prstGeom prst="roundRect">
            <a:avLst>
              <a:gd name="adj" fmla="val 3333"/>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1" name="21-kubectl-pods-svc-helm.png" descr="kubectl get pods, svc, ingress, hpa and helm list">    </p:cNvPr>
          <p:cNvPicPr>
            <a:picLocks noChangeAspect="1"/>
          </p:cNvPicPr>
          <p:nvPr/>
        </p:nvPicPr>
        <p:blipFill>
          <a:blip r:embed="rId5"/>
          <a:stretch>
            <a:fillRect/>
          </a:stretch>
        </p:blipFill>
        <p:spPr>
          <a:xfrm>
            <a:off x="5184648" y="1664208"/>
            <a:ext cx="6391656" cy="2066554"/>
          </a:xfrm>
          <a:prstGeom prst="rect">
            <a:avLst/>
          </a:prstGeom>
        </p:spPr>
      </p:pic>
      <p:sp>
        <p:nvSpPr>
          <p:cNvPr id="22" name="caption 21-kubectl-pods-svc-helm.png"/>
          <p:cNvSpPr txBox="1"/>
          <p:nvPr/>
        </p:nvSpPr>
        <p:spPr>
          <a:xfrm>
            <a:off x="5120640" y="3849634"/>
            <a:ext cx="6519672" cy="256032"/>
          </a:xfrm>
          <a:prstGeom prst="rect">
            <a:avLst/>
          </a:prstGeom>
          <a:noFill/>
          <a:ln/>
        </p:spPr>
        <p:txBody>
          <a:bodyPr wrap="square" lIns="0" tIns="0" rIns="0" bIns="0" rtlCol="0" anchor="ctr"/>
          <a:lstStyle/>
          <a:p>
            <a:pPr algn="ctr" indent="0" marL="0">
              <a:buNone/>
            </a:pPr>
            <a:r>
              <a:rPr lang="en-US" sz="1100" i="1" dirty="0">
                <a:solidFill>
                  <a:schemeClr val="accent6"/>
                </a:solidFill>
              </a:rPr>
              <a:t>kubectl get pods, svc, ingress, hpa and helm list</a:t>
            </a:r>
            <a:endParaRPr lang="en-US" sz="1100" dirty="0"/>
          </a:p>
        </p:txBody>
      </p:sp>
      <p:sp>
        <p:nvSpPr>
          <p:cNvPr id="23" name="card 22-ui-via-ingress.png"/>
          <p:cNvSpPr/>
          <p:nvPr/>
        </p:nvSpPr>
        <p:spPr>
          <a:xfrm>
            <a:off x="6878420" y="4224528"/>
            <a:ext cx="3004112" cy="1865376"/>
          </a:xfrm>
          <a:prstGeom prst="roundRect">
            <a:avLst>
              <a:gd name="adj" fmla="val 3922"/>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4" name="22-ui-via-ingress.png" descr="The app through the Ingress">    </p:cNvPr>
          <p:cNvPicPr>
            <a:picLocks noChangeAspect="1"/>
          </p:cNvPicPr>
          <p:nvPr/>
        </p:nvPicPr>
        <p:blipFill>
          <a:blip r:embed="rId6"/>
          <a:stretch>
            <a:fillRect/>
          </a:stretch>
        </p:blipFill>
        <p:spPr>
          <a:xfrm>
            <a:off x="6942428" y="4288536"/>
            <a:ext cx="2876096" cy="1737360"/>
          </a:xfrm>
          <a:prstGeom prst="rect">
            <a:avLst/>
          </a:prstGeom>
        </p:spPr>
      </p:pic>
      <p:sp>
        <p:nvSpPr>
          <p:cNvPr id="25" name="caption 22-ui-via-ingress.png"/>
          <p:cNvSpPr txBox="1"/>
          <p:nvPr/>
        </p:nvSpPr>
        <p:spPr>
          <a:xfrm>
            <a:off x="6878420" y="6144768"/>
            <a:ext cx="3004112" cy="256032"/>
          </a:xfrm>
          <a:prstGeom prst="rect">
            <a:avLst/>
          </a:prstGeom>
          <a:noFill/>
          <a:ln/>
        </p:spPr>
        <p:txBody>
          <a:bodyPr wrap="square" lIns="0" tIns="0" rIns="0" bIns="0" rtlCol="0" anchor="ctr"/>
          <a:lstStyle/>
          <a:p>
            <a:pPr algn="ctr" indent="0" marL="0">
              <a:buNone/>
            </a:pPr>
            <a:r>
              <a:rPr lang="en-US" sz="1100" i="1" dirty="0">
                <a:solidFill>
                  <a:schemeClr val="accent6"/>
                </a:solidFill>
              </a:rPr>
              <a:t>The app through the Ingress</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M9 · OBSERVABILITY · 10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Metrics in, dashboard out</a:t>
            </a:r>
            <a:endParaRPr lang="en-US" sz="3400" dirty="0"/>
          </a:p>
        </p:txBody>
      </p:sp>
      <p:sp>
        <p:nvSpPr>
          <p:cNvPr id="4" name="card 26-grafana-dashboard.png"/>
          <p:cNvSpPr/>
          <p:nvPr/>
        </p:nvSpPr>
        <p:spPr>
          <a:xfrm>
            <a:off x="548640" y="1600200"/>
            <a:ext cx="6833225" cy="3209544"/>
          </a:xfrm>
          <a:prstGeom prst="roundRect">
            <a:avLst>
              <a:gd name="adj" fmla="val 227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5" name="26-grafana-dashboard.png" descr="Grafana: DataDrift — Registry &amp; API Overview, loaded by the Helm chart">    </p:cNvPr>
          <p:cNvPicPr>
            <a:picLocks noChangeAspect="1"/>
          </p:cNvPicPr>
          <p:nvPr/>
        </p:nvPicPr>
        <p:blipFill>
          <a:blip r:embed="rId1"/>
          <a:stretch>
            <a:fillRect/>
          </a:stretch>
        </p:blipFill>
        <p:spPr>
          <a:xfrm>
            <a:off x="612648" y="1664208"/>
            <a:ext cx="6705209" cy="3081528"/>
          </a:xfrm>
          <a:prstGeom prst="rect">
            <a:avLst/>
          </a:prstGeom>
        </p:spPr>
      </p:pic>
      <p:sp>
        <p:nvSpPr>
          <p:cNvPr id="6" name="caption 26-grafana-dashboard.png"/>
          <p:cNvSpPr txBox="1"/>
          <p:nvPr/>
        </p:nvSpPr>
        <p:spPr>
          <a:xfrm>
            <a:off x="548640" y="4864608"/>
            <a:ext cx="6833225" cy="256032"/>
          </a:xfrm>
          <a:prstGeom prst="rect">
            <a:avLst/>
          </a:prstGeom>
          <a:noFill/>
          <a:ln/>
        </p:spPr>
        <p:txBody>
          <a:bodyPr wrap="square" lIns="0" tIns="0" rIns="0" bIns="0" rtlCol="0" anchor="ctr"/>
          <a:lstStyle/>
          <a:p>
            <a:pPr algn="l" indent="0" marL="0">
              <a:buNone/>
            </a:pPr>
            <a:r>
              <a:rPr lang="en-US" sz="1100" i="1" dirty="0">
                <a:solidFill>
                  <a:schemeClr val="accent6"/>
                </a:solidFill>
              </a:rPr>
              <a:t>Grafana: DataDrift — Registry &amp; API Overview, loaded by the Helm chart</a:t>
            </a:r>
            <a:endParaRPr lang="en-US" sz="1100" dirty="0"/>
          </a:p>
        </p:txBody>
      </p:sp>
      <p:sp>
        <p:nvSpPr>
          <p:cNvPr id="7" name="card 24-prometheus-targets.png"/>
          <p:cNvSpPr/>
          <p:nvPr/>
        </p:nvSpPr>
        <p:spPr>
          <a:xfrm>
            <a:off x="7818120" y="1600200"/>
            <a:ext cx="3822192" cy="2346063"/>
          </a:xfrm>
          <a:prstGeom prst="roundRect">
            <a:avLst>
              <a:gd name="adj" fmla="val 3118"/>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8" name="24-prometheus-targets.png" descr="Prometheus targets: 2/2 backend pods UP">    </p:cNvPr>
          <p:cNvPicPr>
            <a:picLocks noChangeAspect="1"/>
          </p:cNvPicPr>
          <p:nvPr/>
        </p:nvPicPr>
        <p:blipFill>
          <a:blip r:embed="rId2"/>
          <a:stretch>
            <a:fillRect/>
          </a:stretch>
        </p:blipFill>
        <p:spPr>
          <a:xfrm>
            <a:off x="7882128" y="1664208"/>
            <a:ext cx="3694176" cy="2218047"/>
          </a:xfrm>
          <a:prstGeom prst="rect">
            <a:avLst/>
          </a:prstGeom>
        </p:spPr>
      </p:pic>
      <p:sp>
        <p:nvSpPr>
          <p:cNvPr id="9" name="caption 24-prometheus-targets.png"/>
          <p:cNvSpPr txBox="1"/>
          <p:nvPr/>
        </p:nvSpPr>
        <p:spPr>
          <a:xfrm>
            <a:off x="7818120" y="4001127"/>
            <a:ext cx="3822192" cy="256032"/>
          </a:xfrm>
          <a:prstGeom prst="rect">
            <a:avLst/>
          </a:prstGeom>
          <a:noFill/>
          <a:ln/>
        </p:spPr>
        <p:txBody>
          <a:bodyPr wrap="square" lIns="0" tIns="0" rIns="0" bIns="0" rtlCol="0" anchor="ctr"/>
          <a:lstStyle/>
          <a:p>
            <a:pPr algn="ctr" indent="0" marL="0">
              <a:buNone/>
            </a:pPr>
            <a:r>
              <a:rPr lang="en-US" sz="1100" i="1" dirty="0">
                <a:solidFill>
                  <a:schemeClr val="accent6"/>
                </a:solidFill>
              </a:rPr>
              <a:t>Prometheus targets: 2/2 backend pods UP</a:t>
            </a:r>
            <a:endParaRPr lang="en-US" sz="1100" dirty="0"/>
          </a:p>
        </p:txBody>
      </p:sp>
      <p:sp>
        <p:nvSpPr>
          <p:cNvPr id="10" name="icon circle /metrics"/>
          <p:cNvSpPr/>
          <p:nvPr/>
        </p:nvSpPr>
        <p:spPr>
          <a:xfrm>
            <a:off x="548640" y="5349240"/>
            <a:ext cx="512064" cy="512064"/>
          </a:xfrm>
          <a:prstGeom prst="ellipse">
            <a:avLst/>
          </a:prstGeom>
          <a:solidFill>
            <a:schemeClr val="accent1"/>
          </a:solidFill>
          <a:ln w="12700">
            <a:solidFill>
              <a:schemeClr val="accent1"/>
            </a:solidFill>
            <a:prstDash val="solid"/>
          </a:ln>
        </p:spPr>
      </p:sp>
      <p:pic>
        <p:nvPicPr>
          <p:cNvPr id="11" name="icon /metrics" descr="preencoded.png">    </p:cNvPr>
          <p:cNvPicPr>
            <a:picLocks noChangeAspect="1"/>
          </p:cNvPicPr>
          <p:nvPr/>
        </p:nvPicPr>
        <p:blipFill>
          <a:blip r:embed="rId3"/>
          <a:stretch>
            <a:fillRect/>
          </a:stretch>
        </p:blipFill>
        <p:spPr>
          <a:xfrm>
            <a:off x="676656" y="5477256"/>
            <a:ext cx="256032" cy="256032"/>
          </a:xfrm>
          <a:prstGeom prst="rect">
            <a:avLst/>
          </a:prstGeom>
        </p:spPr>
      </p:pic>
      <p:sp>
        <p:nvSpPr>
          <p:cNvPr id="12" name="Text 7"/>
          <p:cNvSpPr txBox="1"/>
          <p:nvPr/>
        </p:nvSpPr>
        <p:spPr>
          <a:xfrm>
            <a:off x="1261872" y="5330952"/>
            <a:ext cx="2852928" cy="329184"/>
          </a:xfrm>
          <a:prstGeom prst="rect">
            <a:avLst/>
          </a:prstGeom>
          <a:noFill/>
          <a:ln/>
        </p:spPr>
        <p:txBody>
          <a:bodyPr wrap="square" lIns="0" tIns="0" rIns="0" bIns="0" rtlCol="0" anchor="t"/>
          <a:lstStyle/>
          <a:p>
            <a:pPr indent="0" marL="0">
              <a:buNone/>
            </a:pPr>
            <a:r>
              <a:rPr lang="en-US" sz="1700" b="1" dirty="0">
                <a:solidFill>
                  <a:schemeClr val="tx1"/>
                </a:solidFill>
              </a:rPr>
              <a:t>/metrics</a:t>
            </a:r>
            <a:endParaRPr lang="en-US" sz="1700" dirty="0"/>
          </a:p>
        </p:txBody>
      </p:sp>
      <p:sp>
        <p:nvSpPr>
          <p:cNvPr id="13" name="Text 8"/>
          <p:cNvSpPr txBox="1"/>
          <p:nvPr/>
        </p:nvSpPr>
        <p:spPr>
          <a:xfrm>
            <a:off x="1261872" y="5678424"/>
            <a:ext cx="2852928" cy="749808"/>
          </a:xfrm>
          <a:prstGeom prst="rect">
            <a:avLst/>
          </a:prstGeom>
          <a:noFill/>
          <a:ln/>
        </p:spPr>
        <p:txBody>
          <a:bodyPr wrap="square" lIns="0" tIns="0" rIns="0" bIns="0" rtlCol="0" anchor="t"/>
          <a:lstStyle/>
          <a:p>
            <a:pPr indent="0" marL="0">
              <a:buNone/>
            </a:pPr>
            <a:r>
              <a:rPr lang="en-US" sz="1400" dirty="0">
                <a:solidFill>
                  <a:schemeClr val="tx2"/>
                </a:solidFill>
              </a:rPr>
              <a:t>requests, latency, and the drift score of every snapshot</a:t>
            </a:r>
            <a:endParaRPr lang="en-US" sz="1400" dirty="0"/>
          </a:p>
        </p:txBody>
      </p:sp>
      <p:sp>
        <p:nvSpPr>
          <p:cNvPr id="14" name="icon circle ServiceMonitor"/>
          <p:cNvSpPr/>
          <p:nvPr/>
        </p:nvSpPr>
        <p:spPr>
          <a:xfrm>
            <a:off x="4343400" y="5349240"/>
            <a:ext cx="512064" cy="512064"/>
          </a:xfrm>
          <a:prstGeom prst="ellipse">
            <a:avLst/>
          </a:prstGeom>
          <a:solidFill>
            <a:schemeClr val="accent1"/>
          </a:solidFill>
          <a:ln w="12700">
            <a:solidFill>
              <a:schemeClr val="accent1"/>
            </a:solidFill>
            <a:prstDash val="solid"/>
          </a:ln>
        </p:spPr>
      </p:sp>
      <p:pic>
        <p:nvPicPr>
          <p:cNvPr id="15" name="icon ServiceMonitor" descr="preencoded.png">    </p:cNvPr>
          <p:cNvPicPr>
            <a:picLocks noChangeAspect="1"/>
          </p:cNvPicPr>
          <p:nvPr/>
        </p:nvPicPr>
        <p:blipFill>
          <a:blip r:embed="rId4"/>
          <a:stretch>
            <a:fillRect/>
          </a:stretch>
        </p:blipFill>
        <p:spPr>
          <a:xfrm>
            <a:off x="4471416" y="5477256"/>
            <a:ext cx="256032" cy="256032"/>
          </a:xfrm>
          <a:prstGeom prst="rect">
            <a:avLst/>
          </a:prstGeom>
        </p:spPr>
      </p:pic>
      <p:sp>
        <p:nvSpPr>
          <p:cNvPr id="16" name="Text 10"/>
          <p:cNvSpPr txBox="1"/>
          <p:nvPr/>
        </p:nvSpPr>
        <p:spPr>
          <a:xfrm>
            <a:off x="5056632" y="5330952"/>
            <a:ext cx="2852928" cy="329184"/>
          </a:xfrm>
          <a:prstGeom prst="rect">
            <a:avLst/>
          </a:prstGeom>
          <a:noFill/>
          <a:ln/>
        </p:spPr>
        <p:txBody>
          <a:bodyPr wrap="square" lIns="0" tIns="0" rIns="0" bIns="0" rtlCol="0" anchor="t"/>
          <a:lstStyle/>
          <a:p>
            <a:pPr indent="0" marL="0">
              <a:buNone/>
            </a:pPr>
            <a:r>
              <a:rPr lang="en-US" sz="1700" b="1" dirty="0">
                <a:solidFill>
                  <a:schemeClr val="tx1"/>
                </a:solidFill>
              </a:rPr>
              <a:t>ServiceMonitor</a:t>
            </a:r>
            <a:endParaRPr lang="en-US" sz="1700" dirty="0"/>
          </a:p>
        </p:txBody>
      </p:sp>
      <p:sp>
        <p:nvSpPr>
          <p:cNvPr id="17" name="Text 11"/>
          <p:cNvSpPr txBox="1"/>
          <p:nvPr/>
        </p:nvSpPr>
        <p:spPr>
          <a:xfrm>
            <a:off x="5056632" y="5678424"/>
            <a:ext cx="2852928" cy="749808"/>
          </a:xfrm>
          <a:prstGeom prst="rect">
            <a:avLst/>
          </a:prstGeom>
          <a:noFill/>
          <a:ln/>
        </p:spPr>
        <p:txBody>
          <a:bodyPr wrap="square" lIns="0" tIns="0" rIns="0" bIns="0" rtlCol="0" anchor="t"/>
          <a:lstStyle/>
          <a:p>
            <a:pPr indent="0" marL="0">
              <a:buNone/>
            </a:pPr>
            <a:r>
              <a:rPr lang="en-US" sz="1400" dirty="0">
                <a:solidFill>
                  <a:schemeClr val="tx2"/>
                </a:solidFill>
              </a:rPr>
              <a:t>Prometheus scrapes each backend pod every 15 s</a:t>
            </a:r>
            <a:endParaRPr lang="en-US" sz="1400" dirty="0"/>
          </a:p>
        </p:txBody>
      </p:sp>
      <p:sp>
        <p:nvSpPr>
          <p:cNvPr id="18" name="icon circle 12 panels"/>
          <p:cNvSpPr/>
          <p:nvPr/>
        </p:nvSpPr>
        <p:spPr>
          <a:xfrm>
            <a:off x="8138160" y="5349240"/>
            <a:ext cx="512064" cy="512064"/>
          </a:xfrm>
          <a:prstGeom prst="ellipse">
            <a:avLst/>
          </a:prstGeom>
          <a:solidFill>
            <a:schemeClr val="accent4"/>
          </a:solidFill>
          <a:ln w="12700">
            <a:solidFill>
              <a:schemeClr val="accent4"/>
            </a:solidFill>
            <a:prstDash val="solid"/>
          </a:ln>
        </p:spPr>
      </p:sp>
      <p:pic>
        <p:nvPicPr>
          <p:cNvPr id="19" name="icon 12 panels" descr="preencoded.png">    </p:cNvPr>
          <p:cNvPicPr>
            <a:picLocks noChangeAspect="1"/>
          </p:cNvPicPr>
          <p:nvPr/>
        </p:nvPicPr>
        <p:blipFill>
          <a:blip r:embed="rId5"/>
          <a:stretch>
            <a:fillRect/>
          </a:stretch>
        </p:blipFill>
        <p:spPr>
          <a:xfrm>
            <a:off x="8266176" y="5477256"/>
            <a:ext cx="256032" cy="256032"/>
          </a:xfrm>
          <a:prstGeom prst="rect">
            <a:avLst/>
          </a:prstGeom>
        </p:spPr>
      </p:pic>
      <p:sp>
        <p:nvSpPr>
          <p:cNvPr id="20" name="Text 13"/>
          <p:cNvSpPr txBox="1"/>
          <p:nvPr/>
        </p:nvSpPr>
        <p:spPr>
          <a:xfrm>
            <a:off x="8851392" y="5330952"/>
            <a:ext cx="2788920" cy="329184"/>
          </a:xfrm>
          <a:prstGeom prst="rect">
            <a:avLst/>
          </a:prstGeom>
          <a:noFill/>
          <a:ln/>
        </p:spPr>
        <p:txBody>
          <a:bodyPr wrap="square" lIns="0" tIns="0" rIns="0" bIns="0" rtlCol="0" anchor="t"/>
          <a:lstStyle/>
          <a:p>
            <a:pPr indent="0" marL="0">
              <a:buNone/>
            </a:pPr>
            <a:r>
              <a:rPr lang="en-US" sz="1700" b="1" dirty="0">
                <a:solidFill>
                  <a:schemeClr val="tx1"/>
                </a:solidFill>
              </a:rPr>
              <a:t>12 panels</a:t>
            </a:r>
            <a:endParaRPr lang="en-US" sz="1700" dirty="0"/>
          </a:p>
        </p:txBody>
      </p:sp>
      <p:sp>
        <p:nvSpPr>
          <p:cNvPr id="21" name="Text 14"/>
          <p:cNvSpPr txBox="1"/>
          <p:nvPr/>
        </p:nvSpPr>
        <p:spPr>
          <a:xfrm>
            <a:off x="8851392" y="5678424"/>
            <a:ext cx="2788920" cy="749808"/>
          </a:xfrm>
          <a:prstGeom prst="rect">
            <a:avLst/>
          </a:prstGeom>
          <a:noFill/>
          <a:ln/>
        </p:spPr>
        <p:txBody>
          <a:bodyPr wrap="square" lIns="0" tIns="0" rIns="0" bIns="0" rtlCol="0" anchor="t"/>
          <a:lstStyle/>
          <a:p>
            <a:pPr indent="0" marL="0">
              <a:buNone/>
            </a:pPr>
            <a:r>
              <a:rPr lang="en-US" sz="1400" dirty="0">
                <a:solidFill>
                  <a:schemeClr val="tx2"/>
                </a:solidFill>
              </a:rPr>
              <a:t>drift, status, traffic, errors, CPU, replicas</a:t>
            </a:r>
            <a:endParaRPr lang="en-US" sz="14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THE HIGHLIGHT</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Flag drift, and the alert fires in about 30 seconds</a:t>
            </a:r>
            <a:endParaRPr lang="en-US" sz="3400" dirty="0"/>
          </a:p>
        </p:txBody>
      </p:sp>
      <p:sp>
        <p:nvSpPr>
          <p:cNvPr id="4" name="flow Flag drift"/>
          <p:cNvSpPr/>
          <p:nvPr/>
        </p:nvSpPr>
        <p:spPr>
          <a:xfrm>
            <a:off x="548640" y="1600200"/>
            <a:ext cx="251460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5" name="Text 3"/>
          <p:cNvSpPr txBox="1"/>
          <p:nvPr/>
        </p:nvSpPr>
        <p:spPr>
          <a:xfrm>
            <a:off x="640080" y="1600200"/>
            <a:ext cx="2331720" cy="868680"/>
          </a:xfrm>
          <a:prstGeom prst="rect">
            <a:avLst/>
          </a:prstGeom>
          <a:noFill/>
          <a:ln/>
        </p:spPr>
        <p:txBody>
          <a:bodyPr wrap="square" lIns="0" tIns="0" rIns="0" bIns="0" rtlCol="0" anchor="ctr"/>
          <a:lstStyle/>
          <a:p>
            <a:pPr algn="ctr" indent="0" marL="0">
              <a:buNone/>
            </a:pPr>
            <a:r>
              <a:rPr lang="en-US" sz="1500" b="1" dirty="0">
                <a:solidFill>
                  <a:schemeClr val="bg1"/>
                </a:solidFill>
              </a:rPr>
              <a:t>Flag drift</a:t>
            </a:r>
            <a:endParaRPr lang="en-US" sz="1500" dirty="0"/>
          </a:p>
          <a:p>
            <a:pPr algn="ctr" indent="0" marL="0">
              <a:buNone/>
            </a:pPr>
            <a:r>
              <a:rPr lang="en-US" sz="1200" dirty="0">
                <a:solidFill>
                  <a:schemeClr val="bg1"/>
                </a:solidFill>
              </a:rPr>
              <a:t>PUT /api/datasets/{id}</a:t>
            </a:r>
            <a:endParaRPr lang="en-US" sz="1500" dirty="0"/>
          </a:p>
        </p:txBody>
      </p:sp>
      <p:sp>
        <p:nvSpPr>
          <p:cNvPr id="6" name="flow arrow 0"/>
          <p:cNvSpPr/>
          <p:nvPr/>
        </p:nvSpPr>
        <p:spPr>
          <a:xfrm>
            <a:off x="3099816" y="2029968"/>
            <a:ext cx="274320" cy="0"/>
          </a:xfrm>
          <a:prstGeom prst="line">
            <a:avLst/>
          </a:prstGeom>
          <a:noFill/>
          <a:ln w="22225">
            <a:solidFill>
              <a:srgbClr val="64748B"/>
            </a:solidFill>
            <a:prstDash val="solid"/>
            <a:tailEnd type="triangle"/>
          </a:ln>
        </p:spPr>
      </p:sp>
      <p:sp>
        <p:nvSpPr>
          <p:cNvPr id="7" name="flow /metrics"/>
          <p:cNvSpPr/>
          <p:nvPr/>
        </p:nvSpPr>
        <p:spPr>
          <a:xfrm>
            <a:off x="3410712" y="1600200"/>
            <a:ext cx="251460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8" name="Text 6"/>
          <p:cNvSpPr txBox="1"/>
          <p:nvPr/>
        </p:nvSpPr>
        <p:spPr>
          <a:xfrm>
            <a:off x="3502152" y="1600200"/>
            <a:ext cx="2331720" cy="868680"/>
          </a:xfrm>
          <a:prstGeom prst="rect">
            <a:avLst/>
          </a:prstGeom>
          <a:noFill/>
          <a:ln/>
        </p:spPr>
        <p:txBody>
          <a:bodyPr wrap="square" lIns="0" tIns="0" rIns="0" bIns="0" rtlCol="0" anchor="ctr"/>
          <a:lstStyle/>
          <a:p>
            <a:pPr algn="ctr" indent="0" marL="0">
              <a:buNone/>
            </a:pPr>
            <a:r>
              <a:rPr lang="en-US" sz="1500" b="1" dirty="0">
                <a:solidFill>
                  <a:schemeClr val="bg1"/>
                </a:solidFill>
              </a:rPr>
              <a:t>/metrics</a:t>
            </a:r>
            <a:endParaRPr lang="en-US" sz="1500" dirty="0"/>
          </a:p>
          <a:p>
            <a:pPr algn="ctr" indent="0" marL="0">
              <a:buNone/>
            </a:pPr>
            <a:r>
              <a:rPr lang="en-US" sz="1200" dirty="0">
                <a:solidFill>
                  <a:schemeClr val="bg1"/>
                </a:solidFill>
              </a:rPr>
              <a:t>status = DRIFT_DETECTED</a:t>
            </a:r>
            <a:endParaRPr lang="en-US" sz="1500" dirty="0"/>
          </a:p>
        </p:txBody>
      </p:sp>
      <p:sp>
        <p:nvSpPr>
          <p:cNvPr id="9" name="flow arrow 1"/>
          <p:cNvSpPr/>
          <p:nvPr/>
        </p:nvSpPr>
        <p:spPr>
          <a:xfrm>
            <a:off x="5961888" y="2029968"/>
            <a:ext cx="274320" cy="0"/>
          </a:xfrm>
          <a:prstGeom prst="line">
            <a:avLst/>
          </a:prstGeom>
          <a:noFill/>
          <a:ln w="22225">
            <a:solidFill>
              <a:srgbClr val="64748B"/>
            </a:solidFill>
            <a:prstDash val="solid"/>
            <a:tailEnd type="triangle"/>
          </a:ln>
        </p:spPr>
      </p:sp>
      <p:sp>
        <p:nvSpPr>
          <p:cNvPr id="10" name="flow PrometheusRule"/>
          <p:cNvSpPr/>
          <p:nvPr/>
        </p:nvSpPr>
        <p:spPr>
          <a:xfrm>
            <a:off x="6272784" y="1600200"/>
            <a:ext cx="251460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11" name="Text 9"/>
          <p:cNvSpPr txBox="1"/>
          <p:nvPr/>
        </p:nvSpPr>
        <p:spPr>
          <a:xfrm>
            <a:off x="6364224" y="1600200"/>
            <a:ext cx="2331720" cy="868680"/>
          </a:xfrm>
          <a:prstGeom prst="rect">
            <a:avLst/>
          </a:prstGeom>
          <a:noFill/>
          <a:ln/>
        </p:spPr>
        <p:txBody>
          <a:bodyPr wrap="square" lIns="0" tIns="0" rIns="0" bIns="0" rtlCol="0" anchor="ctr"/>
          <a:lstStyle/>
          <a:p>
            <a:pPr algn="ctr" indent="0" marL="0">
              <a:buNone/>
            </a:pPr>
            <a:r>
              <a:rPr lang="en-US" sz="1500" b="1" dirty="0">
                <a:solidFill>
                  <a:schemeClr val="bg1"/>
                </a:solidFill>
              </a:rPr>
              <a:t>PrometheusRule</a:t>
            </a:r>
            <a:endParaRPr lang="en-US" sz="1500" dirty="0"/>
          </a:p>
          <a:p>
            <a:pPr algn="ctr" indent="0" marL="0">
              <a:buNone/>
            </a:pPr>
            <a:r>
              <a:rPr lang="en-US" sz="1200" dirty="0">
                <a:solidFill>
                  <a:schemeClr val="bg1"/>
                </a:solidFill>
              </a:rPr>
              <a:t>DatasetDriftDetected</a:t>
            </a:r>
            <a:endParaRPr lang="en-US" sz="1500" dirty="0"/>
          </a:p>
        </p:txBody>
      </p:sp>
      <p:sp>
        <p:nvSpPr>
          <p:cNvPr id="12" name="flow arrow 2"/>
          <p:cNvSpPr/>
          <p:nvPr/>
        </p:nvSpPr>
        <p:spPr>
          <a:xfrm>
            <a:off x="8823960" y="2029968"/>
            <a:ext cx="274320" cy="0"/>
          </a:xfrm>
          <a:prstGeom prst="line">
            <a:avLst/>
          </a:prstGeom>
          <a:noFill/>
          <a:ln w="22225">
            <a:solidFill>
              <a:srgbClr val="64748B"/>
            </a:solidFill>
            <a:prstDash val="solid"/>
            <a:tailEnd type="triangle"/>
          </a:ln>
        </p:spPr>
      </p:sp>
      <p:sp>
        <p:nvSpPr>
          <p:cNvPr id="13" name="flow Grafana"/>
          <p:cNvSpPr/>
          <p:nvPr/>
        </p:nvSpPr>
        <p:spPr>
          <a:xfrm>
            <a:off x="9134856" y="1600200"/>
            <a:ext cx="2514600" cy="868680"/>
          </a:xfrm>
          <a:prstGeom prst="roundRect">
            <a:avLst>
              <a:gd name="adj" fmla="val 10526"/>
            </a:avLst>
          </a:prstGeom>
          <a:solidFill>
            <a:schemeClr val="accent2"/>
          </a:solidFill>
          <a:ln w="12700">
            <a:solidFill>
              <a:schemeClr val="accent2"/>
            </a:solidFill>
            <a:prstDash val="solid"/>
          </a:ln>
          <a:effectLst>
            <a:outerShdw sx="100000" sy="100000" kx="0" ky="0" algn="bl" rotWithShape="0" blurRad="127000" dist="38100" dir="5400000">
              <a:srgbClr val="1E1B4B">
                <a:alpha val="18000"/>
              </a:srgbClr>
            </a:outerShdw>
          </a:effectLst>
        </p:spPr>
      </p:sp>
      <p:sp>
        <p:nvSpPr>
          <p:cNvPr id="14" name="Text 12"/>
          <p:cNvSpPr txBox="1"/>
          <p:nvPr/>
        </p:nvSpPr>
        <p:spPr>
          <a:xfrm>
            <a:off x="9226296" y="1600200"/>
            <a:ext cx="2331720" cy="868680"/>
          </a:xfrm>
          <a:prstGeom prst="rect">
            <a:avLst/>
          </a:prstGeom>
          <a:noFill/>
          <a:ln/>
        </p:spPr>
        <p:txBody>
          <a:bodyPr wrap="square" lIns="0" tIns="0" rIns="0" bIns="0" rtlCol="0" anchor="ctr"/>
          <a:lstStyle/>
          <a:p>
            <a:pPr algn="ctr" indent="0" marL="0">
              <a:buNone/>
            </a:pPr>
            <a:r>
              <a:rPr lang="en-US" sz="1500" b="1" dirty="0">
                <a:solidFill>
                  <a:schemeClr val="bg1"/>
                </a:solidFill>
              </a:rPr>
              <a:t>Grafana</a:t>
            </a:r>
            <a:endParaRPr lang="en-US" sz="1500" dirty="0"/>
          </a:p>
          <a:p>
            <a:pPr algn="ctr" indent="0" marL="0">
              <a:buNone/>
            </a:pPr>
            <a:r>
              <a:rPr lang="en-US" sz="1200" dirty="0">
                <a:solidFill>
                  <a:schemeClr val="bg1"/>
                </a:solidFill>
              </a:rPr>
              <a:t>Drift alert: FIRING</a:t>
            </a:r>
            <a:endParaRPr lang="en-US" sz="1500" dirty="0"/>
          </a:p>
        </p:txBody>
      </p:sp>
      <p:sp>
        <p:nvSpPr>
          <p:cNvPr id="15" name="card 28-prometheus-alert-firing.png"/>
          <p:cNvSpPr/>
          <p:nvPr/>
        </p:nvSpPr>
        <p:spPr>
          <a:xfrm>
            <a:off x="548640" y="2743200"/>
            <a:ext cx="5486400" cy="3068558"/>
          </a:xfrm>
          <a:prstGeom prst="roundRect">
            <a:avLst>
              <a:gd name="adj" fmla="val 2384"/>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6" name="28-prometheus-alert-firing.png" descr="Prometheus: firing, labelled clinic-readmission@v0.9-beta">    </p:cNvPr>
          <p:cNvPicPr>
            <a:picLocks noChangeAspect="1"/>
          </p:cNvPicPr>
          <p:nvPr/>
        </p:nvPicPr>
        <p:blipFill>
          <a:blip r:embed="rId1"/>
          <a:stretch>
            <a:fillRect/>
          </a:stretch>
        </p:blipFill>
        <p:spPr>
          <a:xfrm>
            <a:off x="612648" y="2807208"/>
            <a:ext cx="5358384" cy="2940542"/>
          </a:xfrm>
          <a:prstGeom prst="rect">
            <a:avLst/>
          </a:prstGeom>
        </p:spPr>
      </p:pic>
      <p:sp>
        <p:nvSpPr>
          <p:cNvPr id="17" name="caption 28-prometheus-alert-firing.png"/>
          <p:cNvSpPr txBox="1"/>
          <p:nvPr/>
        </p:nvSpPr>
        <p:spPr>
          <a:xfrm>
            <a:off x="548640" y="5866622"/>
            <a:ext cx="5486400" cy="256032"/>
          </a:xfrm>
          <a:prstGeom prst="rect">
            <a:avLst/>
          </a:prstGeom>
          <a:noFill/>
          <a:ln/>
        </p:spPr>
        <p:txBody>
          <a:bodyPr wrap="square" lIns="0" tIns="0" rIns="0" bIns="0" rtlCol="0" anchor="ctr"/>
          <a:lstStyle/>
          <a:p>
            <a:pPr algn="l" indent="0" marL="0">
              <a:buNone/>
            </a:pPr>
            <a:r>
              <a:rPr lang="en-US" sz="1100" i="1" dirty="0">
                <a:solidFill>
                  <a:schemeClr val="accent6"/>
                </a:solidFill>
              </a:rPr>
              <a:t>Prometheus: firing, labelled clinic-readmission@v0.9-beta</a:t>
            </a:r>
            <a:endParaRPr lang="en-US" sz="1100" dirty="0"/>
          </a:p>
        </p:txBody>
      </p:sp>
      <p:sp>
        <p:nvSpPr>
          <p:cNvPr id="18" name="card 29-grafana-alert-firing.png"/>
          <p:cNvSpPr/>
          <p:nvPr/>
        </p:nvSpPr>
        <p:spPr>
          <a:xfrm>
            <a:off x="6613543" y="2743200"/>
            <a:ext cx="5026769" cy="3072384"/>
          </a:xfrm>
          <a:prstGeom prst="roundRect">
            <a:avLst>
              <a:gd name="adj" fmla="val 2381"/>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9" name="29-grafana-alert-firing.png" descr="Grafana: the Drift alert panel turns red">    </p:cNvPr>
          <p:cNvPicPr>
            <a:picLocks noChangeAspect="1"/>
          </p:cNvPicPr>
          <p:nvPr/>
        </p:nvPicPr>
        <p:blipFill>
          <a:blip r:embed="rId2"/>
          <a:stretch>
            <a:fillRect/>
          </a:stretch>
        </p:blipFill>
        <p:spPr>
          <a:xfrm>
            <a:off x="6677551" y="2807208"/>
            <a:ext cx="4898753" cy="2944368"/>
          </a:xfrm>
          <a:prstGeom prst="rect">
            <a:avLst/>
          </a:prstGeom>
        </p:spPr>
      </p:pic>
      <p:sp>
        <p:nvSpPr>
          <p:cNvPr id="20" name="caption 29-grafana-alert-firing.png"/>
          <p:cNvSpPr txBox="1"/>
          <p:nvPr/>
        </p:nvSpPr>
        <p:spPr>
          <a:xfrm>
            <a:off x="6613543" y="5870448"/>
            <a:ext cx="5026769" cy="256032"/>
          </a:xfrm>
          <a:prstGeom prst="rect">
            <a:avLst/>
          </a:prstGeom>
          <a:noFill/>
          <a:ln/>
        </p:spPr>
        <p:txBody>
          <a:bodyPr wrap="square" lIns="0" tIns="0" rIns="0" bIns="0" rtlCol="0" anchor="ctr"/>
          <a:lstStyle/>
          <a:p>
            <a:pPr algn="ctr" indent="0" marL="0">
              <a:buNone/>
            </a:pPr>
            <a:r>
              <a:rPr lang="en-US" sz="1100" i="1" dirty="0">
                <a:solidFill>
                  <a:schemeClr val="accent6"/>
                </a:solidFill>
              </a:rPr>
              <a:t>Grafana: the Drift alert panel turns red</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M8 · AUTOSCALING</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The backend scales out under load</a:t>
            </a:r>
            <a:endParaRPr lang="en-US" sz="3400" dirty="0"/>
          </a:p>
        </p:txBody>
      </p:sp>
      <p:sp>
        <p:nvSpPr>
          <p:cNvPr id="4" name="stat 2 → 4"/>
          <p:cNvSpPr/>
          <p:nvPr/>
        </p:nvSpPr>
        <p:spPr>
          <a:xfrm>
            <a:off x="548640" y="1600200"/>
            <a:ext cx="3520440" cy="1143000"/>
          </a:xfrm>
          <a:prstGeom prst="roundRect">
            <a:avLst>
              <a:gd name="adj" fmla="val 8000"/>
            </a:avLst>
          </a:prstGeom>
          <a:solidFill>
            <a:schemeClr val="bg2"/>
          </a:solidFill>
          <a:ln w="12700">
            <a:solidFill>
              <a:schemeClr val="bg2"/>
            </a:solidFill>
            <a:prstDash val="solid"/>
          </a:ln>
        </p:spPr>
      </p:sp>
      <p:sp>
        <p:nvSpPr>
          <p:cNvPr id="5" name="Text 3"/>
          <p:cNvSpPr txBox="1"/>
          <p:nvPr/>
        </p:nvSpPr>
        <p:spPr>
          <a:xfrm>
            <a:off x="777240" y="1709928"/>
            <a:ext cx="3063240" cy="594360"/>
          </a:xfrm>
          <a:prstGeom prst="rect">
            <a:avLst/>
          </a:prstGeom>
          <a:noFill/>
          <a:ln/>
        </p:spPr>
        <p:txBody>
          <a:bodyPr wrap="square" lIns="0" tIns="0" rIns="0" bIns="0" rtlCol="0" anchor="ctr"/>
          <a:lstStyle/>
          <a:p>
            <a:pPr indent="0" marL="0">
              <a:buNone/>
            </a:pPr>
            <a:r>
              <a:rPr lang="en-US" sz="4000" b="1" dirty="0">
                <a:solidFill>
                  <a:schemeClr val="accent1"/>
                </a:solidFill>
                <a:latin typeface="Arial" pitchFamily="34" charset="0"/>
                <a:ea typeface="Arial" pitchFamily="34" charset="-122"/>
                <a:cs typeface="Arial" pitchFamily="34" charset="-120"/>
              </a:rPr>
              <a:t>2 → 4</a:t>
            </a:r>
            <a:endParaRPr lang="en-US" sz="4000" dirty="0"/>
          </a:p>
        </p:txBody>
      </p:sp>
      <p:sp>
        <p:nvSpPr>
          <p:cNvPr id="6" name="Text 4"/>
          <p:cNvSpPr txBox="1"/>
          <p:nvPr/>
        </p:nvSpPr>
        <p:spPr>
          <a:xfrm>
            <a:off x="777240" y="2313432"/>
            <a:ext cx="3063240" cy="347472"/>
          </a:xfrm>
          <a:prstGeom prst="rect">
            <a:avLst/>
          </a:prstGeom>
          <a:noFill/>
          <a:ln/>
        </p:spPr>
        <p:txBody>
          <a:bodyPr wrap="square" lIns="0" tIns="0" rIns="0" bIns="0" rtlCol="0" anchor="t"/>
          <a:lstStyle/>
          <a:p>
            <a:pPr indent="0" marL="0">
              <a:buNone/>
            </a:pPr>
            <a:r>
              <a:rPr lang="en-US" sz="1400" dirty="0">
                <a:solidFill>
                  <a:schemeClr val="tx2"/>
                </a:solidFill>
              </a:rPr>
              <a:t>backend pods under load</a:t>
            </a:r>
            <a:endParaRPr lang="en-US" sz="1400" dirty="0"/>
          </a:p>
        </p:txBody>
      </p:sp>
      <p:sp>
        <p:nvSpPr>
          <p:cNvPr id="7" name="stat 60%"/>
          <p:cNvSpPr/>
          <p:nvPr/>
        </p:nvSpPr>
        <p:spPr>
          <a:xfrm>
            <a:off x="4334256" y="1600200"/>
            <a:ext cx="3520440" cy="1143000"/>
          </a:xfrm>
          <a:prstGeom prst="roundRect">
            <a:avLst>
              <a:gd name="adj" fmla="val 8000"/>
            </a:avLst>
          </a:prstGeom>
          <a:solidFill>
            <a:schemeClr val="bg2"/>
          </a:solidFill>
          <a:ln w="12700">
            <a:solidFill>
              <a:schemeClr val="bg2"/>
            </a:solidFill>
            <a:prstDash val="solid"/>
          </a:ln>
        </p:spPr>
      </p:sp>
      <p:sp>
        <p:nvSpPr>
          <p:cNvPr id="8" name="Text 6"/>
          <p:cNvSpPr txBox="1"/>
          <p:nvPr/>
        </p:nvSpPr>
        <p:spPr>
          <a:xfrm>
            <a:off x="4562856" y="1709928"/>
            <a:ext cx="3063240" cy="594360"/>
          </a:xfrm>
          <a:prstGeom prst="rect">
            <a:avLst/>
          </a:prstGeom>
          <a:noFill/>
          <a:ln/>
        </p:spPr>
        <p:txBody>
          <a:bodyPr wrap="square" lIns="0" tIns="0" rIns="0" bIns="0" rtlCol="0" anchor="ctr"/>
          <a:lstStyle/>
          <a:p>
            <a:pPr indent="0" marL="0">
              <a:buNone/>
            </a:pPr>
            <a:r>
              <a:rPr lang="en-US" sz="4000" b="1" dirty="0">
                <a:solidFill>
                  <a:schemeClr val="accent4"/>
                </a:solidFill>
                <a:latin typeface="Arial" pitchFamily="34" charset="0"/>
                <a:ea typeface="Arial" pitchFamily="34" charset="-122"/>
                <a:cs typeface="Arial" pitchFamily="34" charset="-120"/>
              </a:rPr>
              <a:t>60%</a:t>
            </a:r>
            <a:endParaRPr lang="en-US" sz="4000" dirty="0"/>
          </a:p>
        </p:txBody>
      </p:sp>
      <p:sp>
        <p:nvSpPr>
          <p:cNvPr id="9" name="Text 7"/>
          <p:cNvSpPr txBox="1"/>
          <p:nvPr/>
        </p:nvSpPr>
        <p:spPr>
          <a:xfrm>
            <a:off x="4562856" y="2313432"/>
            <a:ext cx="3063240" cy="347472"/>
          </a:xfrm>
          <a:prstGeom prst="rect">
            <a:avLst/>
          </a:prstGeom>
          <a:noFill/>
          <a:ln/>
        </p:spPr>
        <p:txBody>
          <a:bodyPr wrap="square" lIns="0" tIns="0" rIns="0" bIns="0" rtlCol="0" anchor="t"/>
          <a:lstStyle/>
          <a:p>
            <a:pPr indent="0" marL="0">
              <a:buNone/>
            </a:pPr>
            <a:r>
              <a:rPr lang="en-US" sz="1400" dirty="0">
                <a:solidFill>
                  <a:schemeClr val="tx2"/>
                </a:solidFill>
              </a:rPr>
              <a:t>CPU target per pod</a:t>
            </a:r>
            <a:endParaRPr lang="en-US" sz="1400" dirty="0"/>
          </a:p>
        </p:txBody>
      </p:sp>
      <p:sp>
        <p:nvSpPr>
          <p:cNvPr id="10" name="stat 5 min"/>
          <p:cNvSpPr/>
          <p:nvPr/>
        </p:nvSpPr>
        <p:spPr>
          <a:xfrm>
            <a:off x="8119872" y="1600200"/>
            <a:ext cx="3520440" cy="1143000"/>
          </a:xfrm>
          <a:prstGeom prst="roundRect">
            <a:avLst>
              <a:gd name="adj" fmla="val 8000"/>
            </a:avLst>
          </a:prstGeom>
          <a:solidFill>
            <a:schemeClr val="bg2"/>
          </a:solidFill>
          <a:ln w="12700">
            <a:solidFill>
              <a:schemeClr val="bg2"/>
            </a:solidFill>
            <a:prstDash val="solid"/>
          </a:ln>
        </p:spPr>
      </p:sp>
      <p:sp>
        <p:nvSpPr>
          <p:cNvPr id="11" name="Text 9"/>
          <p:cNvSpPr txBox="1"/>
          <p:nvPr/>
        </p:nvSpPr>
        <p:spPr>
          <a:xfrm>
            <a:off x="8348472" y="1709928"/>
            <a:ext cx="3063240" cy="594360"/>
          </a:xfrm>
          <a:prstGeom prst="rect">
            <a:avLst/>
          </a:prstGeom>
          <a:noFill/>
          <a:ln/>
        </p:spPr>
        <p:txBody>
          <a:bodyPr wrap="square" lIns="0" tIns="0" rIns="0" bIns="0" rtlCol="0" anchor="ctr"/>
          <a:lstStyle/>
          <a:p>
            <a:pPr indent="0" marL="0">
              <a:buNone/>
            </a:pPr>
            <a:r>
              <a:rPr lang="en-US" sz="4000" b="1" dirty="0">
                <a:solidFill>
                  <a:schemeClr val="accent3"/>
                </a:solidFill>
                <a:latin typeface="Arial" pitchFamily="34" charset="0"/>
                <a:ea typeface="Arial" pitchFamily="34" charset="-122"/>
                <a:cs typeface="Arial" pitchFamily="34" charset="-120"/>
              </a:rPr>
              <a:t>5 min</a:t>
            </a:r>
            <a:endParaRPr lang="en-US" sz="4000" dirty="0"/>
          </a:p>
        </p:txBody>
      </p:sp>
      <p:sp>
        <p:nvSpPr>
          <p:cNvPr id="12" name="Text 10"/>
          <p:cNvSpPr txBox="1"/>
          <p:nvPr/>
        </p:nvSpPr>
        <p:spPr>
          <a:xfrm>
            <a:off x="8348472" y="2313432"/>
            <a:ext cx="3063240" cy="347472"/>
          </a:xfrm>
          <a:prstGeom prst="rect">
            <a:avLst/>
          </a:prstGeom>
          <a:noFill/>
          <a:ln/>
        </p:spPr>
        <p:txBody>
          <a:bodyPr wrap="square" lIns="0" tIns="0" rIns="0" bIns="0" rtlCol="0" anchor="t"/>
          <a:lstStyle/>
          <a:p>
            <a:pPr indent="0" marL="0">
              <a:buNone/>
            </a:pPr>
            <a:r>
              <a:rPr lang="en-US" sz="1400" dirty="0">
                <a:solidFill>
                  <a:schemeClr val="tx2"/>
                </a:solidFill>
              </a:rPr>
              <a:t>before scaling back down</a:t>
            </a:r>
            <a:endParaRPr lang="en-US" sz="1400" dirty="0"/>
          </a:p>
        </p:txBody>
      </p:sp>
      <p:sp>
        <p:nvSpPr>
          <p:cNvPr id="13" name="card 30-hpa-scaling.png"/>
          <p:cNvSpPr/>
          <p:nvPr/>
        </p:nvSpPr>
        <p:spPr>
          <a:xfrm>
            <a:off x="548640" y="3017520"/>
            <a:ext cx="6720840" cy="2510902"/>
          </a:xfrm>
          <a:prstGeom prst="roundRect">
            <a:avLst>
              <a:gd name="adj" fmla="val 2913"/>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4" name="30-hpa-scaling.png" descr="kubectl get hpa -w: CPU 98% → 4 pods, back to 2 after the load">    </p:cNvPr>
          <p:cNvPicPr>
            <a:picLocks noChangeAspect="1"/>
          </p:cNvPicPr>
          <p:nvPr/>
        </p:nvPicPr>
        <p:blipFill>
          <a:blip r:embed="rId1"/>
          <a:stretch>
            <a:fillRect/>
          </a:stretch>
        </p:blipFill>
        <p:spPr>
          <a:xfrm>
            <a:off x="612648" y="3081528"/>
            <a:ext cx="6592824" cy="2382886"/>
          </a:xfrm>
          <a:prstGeom prst="rect">
            <a:avLst/>
          </a:prstGeom>
        </p:spPr>
      </p:pic>
      <p:sp>
        <p:nvSpPr>
          <p:cNvPr id="15" name="caption 30-hpa-scaling.png"/>
          <p:cNvSpPr txBox="1"/>
          <p:nvPr/>
        </p:nvSpPr>
        <p:spPr>
          <a:xfrm>
            <a:off x="548640" y="5583286"/>
            <a:ext cx="6720840" cy="256032"/>
          </a:xfrm>
          <a:prstGeom prst="rect">
            <a:avLst/>
          </a:prstGeom>
          <a:noFill/>
          <a:ln/>
        </p:spPr>
        <p:txBody>
          <a:bodyPr wrap="square" lIns="0" tIns="0" rIns="0" bIns="0" rtlCol="0" anchor="ctr"/>
          <a:lstStyle/>
          <a:p>
            <a:pPr algn="l" indent="0" marL="0">
              <a:buNone/>
            </a:pPr>
            <a:r>
              <a:rPr lang="en-US" sz="1100" i="1" dirty="0">
                <a:solidFill>
                  <a:schemeClr val="accent6"/>
                </a:solidFill>
              </a:rPr>
              <a:t>kubectl get hpa -w: CPU 98% → 4 pods, back to 2 after the load</a:t>
            </a:r>
            <a:endParaRPr lang="en-US" sz="1100" dirty="0"/>
          </a:p>
        </p:txBody>
      </p:sp>
      <p:sp>
        <p:nvSpPr>
          <p:cNvPr id="16" name="card 31-grafana-load-test.png"/>
          <p:cNvSpPr/>
          <p:nvPr/>
        </p:nvSpPr>
        <p:spPr>
          <a:xfrm>
            <a:off x="7498080" y="3017520"/>
            <a:ext cx="4142232" cy="2443479"/>
          </a:xfrm>
          <a:prstGeom prst="roundRect">
            <a:avLst>
              <a:gd name="adj" fmla="val 2994"/>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7" name="31-grafana-load-test.png" descr="Three load tests in Grafana">    </p:cNvPr>
          <p:cNvPicPr>
            <a:picLocks noChangeAspect="1"/>
          </p:cNvPicPr>
          <p:nvPr/>
        </p:nvPicPr>
        <p:blipFill>
          <a:blip r:embed="rId2"/>
          <a:stretch>
            <a:fillRect/>
          </a:stretch>
        </p:blipFill>
        <p:spPr>
          <a:xfrm>
            <a:off x="7562088" y="3081528"/>
            <a:ext cx="4014216" cy="2315463"/>
          </a:xfrm>
          <a:prstGeom prst="rect">
            <a:avLst/>
          </a:prstGeom>
        </p:spPr>
      </p:pic>
      <p:sp>
        <p:nvSpPr>
          <p:cNvPr id="18" name="caption 31-grafana-load-test.png"/>
          <p:cNvSpPr txBox="1"/>
          <p:nvPr/>
        </p:nvSpPr>
        <p:spPr>
          <a:xfrm>
            <a:off x="7498080" y="5515863"/>
            <a:ext cx="4142232" cy="256032"/>
          </a:xfrm>
          <a:prstGeom prst="rect">
            <a:avLst/>
          </a:prstGeom>
          <a:noFill/>
          <a:ln/>
        </p:spPr>
        <p:txBody>
          <a:bodyPr wrap="square" lIns="0" tIns="0" rIns="0" bIns="0" rtlCol="0" anchor="ctr"/>
          <a:lstStyle/>
          <a:p>
            <a:pPr algn="ctr" indent="0" marL="0">
              <a:buNone/>
            </a:pPr>
            <a:r>
              <a:rPr lang="en-US" sz="1100" i="1" dirty="0">
                <a:solidFill>
                  <a:schemeClr val="accent6"/>
                </a:solidFill>
              </a:rPr>
              <a:t>Three load tests in Grafana</a:t>
            </a:r>
            <a:endParaRPr lang="en-US" sz="11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M10 · LIVE CHANGE · 5 PTS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Commit to rollout, traced by the SHA</a:t>
            </a:r>
            <a:endParaRPr lang="en-US" sz="3400" dirty="0"/>
          </a:p>
        </p:txBody>
      </p:sp>
      <p:sp>
        <p:nvSpPr>
          <p:cNvPr id="4" name="live Edit"/>
          <p:cNvSpPr/>
          <p:nvPr/>
        </p:nvSpPr>
        <p:spPr>
          <a:xfrm>
            <a:off x="548640" y="1600200"/>
            <a:ext cx="201168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5" name="Text 3"/>
          <p:cNvSpPr txBox="1"/>
          <p:nvPr/>
        </p:nvSpPr>
        <p:spPr>
          <a:xfrm>
            <a:off x="640080"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Edit</a:t>
            </a:r>
            <a:endParaRPr lang="en-US" sz="1500" dirty="0"/>
          </a:p>
          <a:p>
            <a:pPr algn="ctr" indent="0" marL="0">
              <a:buNone/>
            </a:pPr>
            <a:r>
              <a:rPr lang="en-US" sz="1200" dirty="0">
                <a:solidFill>
                  <a:schemeClr val="bg1"/>
                </a:solidFill>
              </a:rPr>
              <a:t>UI_VERSION → 1.1.0</a:t>
            </a:r>
            <a:endParaRPr lang="en-US" sz="1500" dirty="0"/>
          </a:p>
        </p:txBody>
      </p:sp>
      <p:sp>
        <p:nvSpPr>
          <p:cNvPr id="6" name="live arrow 0"/>
          <p:cNvSpPr/>
          <p:nvPr/>
        </p:nvSpPr>
        <p:spPr>
          <a:xfrm>
            <a:off x="2587752" y="2029968"/>
            <a:ext cx="201168" cy="0"/>
          </a:xfrm>
          <a:prstGeom prst="line">
            <a:avLst/>
          </a:prstGeom>
          <a:noFill/>
          <a:ln w="22225">
            <a:solidFill>
              <a:srgbClr val="64748B"/>
            </a:solidFill>
            <a:prstDash val="solid"/>
            <a:tailEnd type="triangle"/>
          </a:ln>
        </p:spPr>
      </p:sp>
      <p:sp>
        <p:nvSpPr>
          <p:cNvPr id="7" name="live git push"/>
          <p:cNvSpPr/>
          <p:nvPr/>
        </p:nvSpPr>
        <p:spPr>
          <a:xfrm>
            <a:off x="2816352" y="1600200"/>
            <a:ext cx="201168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8" name="Text 6"/>
          <p:cNvSpPr txBox="1"/>
          <p:nvPr/>
        </p:nvSpPr>
        <p:spPr>
          <a:xfrm>
            <a:off x="2907792"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git push</a:t>
            </a:r>
            <a:endParaRPr lang="en-US" sz="1500" dirty="0"/>
          </a:p>
          <a:p>
            <a:pPr algn="ctr" indent="0" marL="0">
              <a:buNone/>
            </a:pPr>
            <a:r>
              <a:rPr lang="en-US" sz="1200" dirty="0">
                <a:solidFill>
                  <a:schemeClr val="bg1"/>
                </a:solidFill>
              </a:rPr>
              <a:t>pipeline starts</a:t>
            </a:r>
            <a:endParaRPr lang="en-US" sz="1500" dirty="0"/>
          </a:p>
        </p:txBody>
      </p:sp>
      <p:sp>
        <p:nvSpPr>
          <p:cNvPr id="9" name="live arrow 1"/>
          <p:cNvSpPr/>
          <p:nvPr/>
        </p:nvSpPr>
        <p:spPr>
          <a:xfrm>
            <a:off x="4855464" y="2029968"/>
            <a:ext cx="201168" cy="0"/>
          </a:xfrm>
          <a:prstGeom prst="line">
            <a:avLst/>
          </a:prstGeom>
          <a:noFill/>
          <a:ln w="22225">
            <a:solidFill>
              <a:srgbClr val="64748B"/>
            </a:solidFill>
            <a:prstDash val="solid"/>
            <a:tailEnd type="triangle"/>
          </a:ln>
        </p:spPr>
      </p:sp>
      <p:sp>
        <p:nvSpPr>
          <p:cNvPr id="10" name="live CI green"/>
          <p:cNvSpPr/>
          <p:nvPr/>
        </p:nvSpPr>
        <p:spPr>
          <a:xfrm>
            <a:off x="5084064" y="1600200"/>
            <a:ext cx="201168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11" name="Text 9"/>
          <p:cNvSpPr txBox="1"/>
          <p:nvPr/>
        </p:nvSpPr>
        <p:spPr>
          <a:xfrm>
            <a:off x="5175504"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CI green</a:t>
            </a:r>
            <a:endParaRPr lang="en-US" sz="1500" dirty="0"/>
          </a:p>
          <a:p>
            <a:pPr algn="ctr" indent="0" marL="0">
              <a:buNone/>
            </a:pPr>
            <a:r>
              <a:rPr lang="en-US" sz="1200" dirty="0">
                <a:solidFill>
                  <a:schemeClr val="bg1"/>
                </a:solidFill>
              </a:rPr>
              <a:t>images pushed to GHCR</a:t>
            </a:r>
            <a:endParaRPr lang="en-US" sz="1500" dirty="0"/>
          </a:p>
        </p:txBody>
      </p:sp>
      <p:sp>
        <p:nvSpPr>
          <p:cNvPr id="12" name="live arrow 2"/>
          <p:cNvSpPr/>
          <p:nvPr/>
        </p:nvSpPr>
        <p:spPr>
          <a:xfrm>
            <a:off x="7123176" y="2029968"/>
            <a:ext cx="201168" cy="0"/>
          </a:xfrm>
          <a:prstGeom prst="line">
            <a:avLst/>
          </a:prstGeom>
          <a:noFill/>
          <a:ln w="22225">
            <a:solidFill>
              <a:srgbClr val="64748B"/>
            </a:solidFill>
            <a:prstDash val="solid"/>
            <a:tailEnd type="triangle"/>
          </a:ln>
        </p:spPr>
      </p:sp>
      <p:sp>
        <p:nvSpPr>
          <p:cNvPr id="13" name="live deploy --ghcr"/>
          <p:cNvSpPr/>
          <p:nvPr/>
        </p:nvSpPr>
        <p:spPr>
          <a:xfrm>
            <a:off x="7351776" y="1600200"/>
            <a:ext cx="2011680" cy="868680"/>
          </a:xfrm>
          <a:prstGeom prst="roundRect">
            <a:avLst>
              <a:gd name="adj" fmla="val 10526"/>
            </a:avLst>
          </a:prstGeom>
          <a:solidFill>
            <a:schemeClr val="tx1"/>
          </a:solidFill>
          <a:ln w="12700">
            <a:solidFill>
              <a:schemeClr val="tx1"/>
            </a:solidFill>
            <a:prstDash val="solid"/>
          </a:ln>
          <a:effectLst>
            <a:outerShdw sx="100000" sy="100000" kx="0" ky="0" algn="bl" rotWithShape="0" blurRad="127000" dist="38100" dir="5400000">
              <a:srgbClr val="1E1B4B">
                <a:alpha val="18000"/>
              </a:srgbClr>
            </a:outerShdw>
          </a:effectLst>
        </p:spPr>
      </p:sp>
      <p:sp>
        <p:nvSpPr>
          <p:cNvPr id="14" name="Text 12"/>
          <p:cNvSpPr txBox="1"/>
          <p:nvPr/>
        </p:nvSpPr>
        <p:spPr>
          <a:xfrm>
            <a:off x="7443216"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deploy --ghcr</a:t>
            </a:r>
            <a:endParaRPr lang="en-US" sz="1500" dirty="0"/>
          </a:p>
          <a:p>
            <a:pPr algn="ctr" indent="0" marL="0">
              <a:buNone/>
            </a:pPr>
            <a:r>
              <a:rPr lang="en-US" sz="1200" dirty="0">
                <a:solidFill>
                  <a:schemeClr val="bg1"/>
                </a:solidFill>
              </a:rPr>
              <a:t>helm rolling update</a:t>
            </a:r>
            <a:endParaRPr lang="en-US" sz="1500" dirty="0"/>
          </a:p>
        </p:txBody>
      </p:sp>
      <p:sp>
        <p:nvSpPr>
          <p:cNvPr id="15" name="live arrow 3"/>
          <p:cNvSpPr/>
          <p:nvPr/>
        </p:nvSpPr>
        <p:spPr>
          <a:xfrm>
            <a:off x="9390888" y="2029968"/>
            <a:ext cx="201168" cy="0"/>
          </a:xfrm>
          <a:prstGeom prst="line">
            <a:avLst/>
          </a:prstGeom>
          <a:noFill/>
          <a:ln w="22225">
            <a:solidFill>
              <a:srgbClr val="64748B"/>
            </a:solidFill>
            <a:prstDash val="solid"/>
            <a:tailEnd type="triangle"/>
          </a:ln>
        </p:spPr>
      </p:sp>
      <p:sp>
        <p:nvSpPr>
          <p:cNvPr id="16" name="live Live"/>
          <p:cNvSpPr/>
          <p:nvPr/>
        </p:nvSpPr>
        <p:spPr>
          <a:xfrm>
            <a:off x="9619488" y="1600200"/>
            <a:ext cx="2011680" cy="868680"/>
          </a:xfrm>
          <a:prstGeom prst="roundRect">
            <a:avLst>
              <a:gd name="adj" fmla="val 10526"/>
            </a:avLst>
          </a:prstGeom>
          <a:solidFill>
            <a:schemeClr val="accent3"/>
          </a:solidFill>
          <a:ln w="12700">
            <a:solidFill>
              <a:schemeClr val="accent3"/>
            </a:solidFill>
            <a:prstDash val="solid"/>
          </a:ln>
          <a:effectLst>
            <a:outerShdw sx="100000" sy="100000" kx="0" ky="0" algn="bl" rotWithShape="0" blurRad="127000" dist="38100" dir="5400000">
              <a:srgbClr val="1E1B4B">
                <a:alpha val="18000"/>
              </a:srgbClr>
            </a:outerShdw>
          </a:effectLst>
        </p:spPr>
      </p:sp>
      <p:sp>
        <p:nvSpPr>
          <p:cNvPr id="17" name="Text 15"/>
          <p:cNvSpPr txBox="1"/>
          <p:nvPr/>
        </p:nvSpPr>
        <p:spPr>
          <a:xfrm>
            <a:off x="9710928" y="1600200"/>
            <a:ext cx="1828800" cy="868680"/>
          </a:xfrm>
          <a:prstGeom prst="rect">
            <a:avLst/>
          </a:prstGeom>
          <a:noFill/>
          <a:ln/>
        </p:spPr>
        <p:txBody>
          <a:bodyPr wrap="square" lIns="0" tIns="0" rIns="0" bIns="0" rtlCol="0" anchor="ctr"/>
          <a:lstStyle/>
          <a:p>
            <a:pPr algn="ctr" indent="0" marL="0">
              <a:buNone/>
            </a:pPr>
            <a:r>
              <a:rPr lang="en-US" sz="1500" b="1" dirty="0">
                <a:solidFill>
                  <a:schemeClr val="bg1"/>
                </a:solidFill>
              </a:rPr>
              <a:t>Live</a:t>
            </a:r>
            <a:endParaRPr lang="en-US" sz="1500" dirty="0"/>
          </a:p>
          <a:p>
            <a:pPr algn="ctr" indent="0" marL="0">
              <a:buNone/>
            </a:pPr>
            <a:r>
              <a:rPr lang="en-US" sz="1200" dirty="0">
                <a:solidFill>
                  <a:schemeClr val="bg1"/>
                </a:solidFill>
              </a:rPr>
              <a:t>UI v1.1.0</a:t>
            </a:r>
            <a:endParaRPr lang="en-US" sz="1500" dirty="0"/>
          </a:p>
        </p:txBody>
      </p:sp>
      <p:sp>
        <p:nvSpPr>
          <p:cNvPr id="18" name="card 32-deploy-ghcr-images.png"/>
          <p:cNvSpPr/>
          <p:nvPr/>
        </p:nvSpPr>
        <p:spPr>
          <a:xfrm>
            <a:off x="548640" y="2743200"/>
            <a:ext cx="6916443" cy="3520440"/>
          </a:xfrm>
          <a:prstGeom prst="roundRect">
            <a:avLst>
              <a:gd name="adj" fmla="val 2078"/>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19" name="32-deploy-ghcr-images.png" descr="32-deploy-ghcr-images.png">    </p:cNvPr>
          <p:cNvPicPr>
            <a:picLocks noChangeAspect="1"/>
          </p:cNvPicPr>
          <p:nvPr/>
        </p:nvPicPr>
        <p:blipFill>
          <a:blip r:embed="rId1"/>
          <a:stretch>
            <a:fillRect/>
          </a:stretch>
        </p:blipFill>
        <p:spPr>
          <a:xfrm>
            <a:off x="612648" y="2807208"/>
            <a:ext cx="6788427" cy="3392424"/>
          </a:xfrm>
          <a:prstGeom prst="rect">
            <a:avLst/>
          </a:prstGeom>
        </p:spPr>
      </p:pic>
      <p:sp>
        <p:nvSpPr>
          <p:cNvPr id="20" name="card /tmp/claude-1000/-home-kavya/f26ef262-7052-4aca-84cf-b26f667db8a9/scratchpad/deck/badge-v110.png"/>
          <p:cNvSpPr/>
          <p:nvPr/>
        </p:nvSpPr>
        <p:spPr>
          <a:xfrm>
            <a:off x="7909560" y="2743200"/>
            <a:ext cx="3730752" cy="593824"/>
          </a:xfrm>
          <a:prstGeom prst="roundRect">
            <a:avLst>
              <a:gd name="adj" fmla="val 12319"/>
            </a:avLst>
          </a:prstGeom>
          <a:solidFill>
            <a:schemeClr val="bg1"/>
          </a:solidFill>
          <a:ln w="9525">
            <a:solidFill>
              <a:srgbClr val="E0E7FF"/>
            </a:solidFill>
            <a:prstDash val="solid"/>
          </a:ln>
          <a:effectLst>
            <a:outerShdw sx="100000" sy="100000" kx="0" ky="0" algn="bl" rotWithShape="0" blurRad="127000" dist="38100" dir="5400000">
              <a:srgbClr val="1E1B4B">
                <a:alpha val="18000"/>
              </a:srgbClr>
            </a:outerShdw>
          </a:effectLst>
        </p:spPr>
      </p:sp>
      <p:pic>
        <p:nvPicPr>
          <p:cNvPr id="21" name="/tmp/claude-1000/-home-kavya/f26ef262-7052-4aca-84cf-b26f667db8a9/scratchpad/deck/badge-v110.png" descr="/tmp/claude-1000/-home-kavya/f26ef262-7052-4aca-84cf-b26f667db8a9/scratchpad/deck/badge-v110.png">    </p:cNvPr>
          <p:cNvPicPr>
            <a:picLocks noChangeAspect="1"/>
          </p:cNvPicPr>
          <p:nvPr/>
        </p:nvPicPr>
        <p:blipFill>
          <a:blip r:embed="rId2"/>
          <a:stretch>
            <a:fillRect/>
          </a:stretch>
        </p:blipFill>
        <p:spPr>
          <a:xfrm>
            <a:off x="7973568" y="2807208"/>
            <a:ext cx="3602736" cy="465808"/>
          </a:xfrm>
          <a:prstGeom prst="rect">
            <a:avLst/>
          </a:prstGeom>
        </p:spPr>
      </p:pic>
      <p:sp>
        <p:nvSpPr>
          <p:cNvPr id="22" name="Text 18"/>
          <p:cNvSpPr txBox="1"/>
          <p:nvPr/>
        </p:nvSpPr>
        <p:spPr>
          <a:xfrm>
            <a:off x="7909560" y="3337560"/>
            <a:ext cx="3730752" cy="256032"/>
          </a:xfrm>
          <a:prstGeom prst="rect">
            <a:avLst/>
          </a:prstGeom>
          <a:noFill/>
          <a:ln/>
        </p:spPr>
        <p:txBody>
          <a:bodyPr wrap="square" lIns="0" tIns="0" rIns="0" bIns="0" rtlCol="0" anchor="ctr"/>
          <a:lstStyle/>
          <a:p>
            <a:pPr indent="0" marL="0">
              <a:buNone/>
            </a:pPr>
            <a:r>
              <a:rPr lang="en-US" sz="1100" i="1" dirty="0">
                <a:solidFill>
                  <a:schemeClr val="accent6"/>
                </a:solidFill>
              </a:rPr>
              <a:t>The header after the rollout (zoomed)</a:t>
            </a:r>
            <a:endParaRPr lang="en-US" sz="1100" dirty="0"/>
          </a:p>
        </p:txBody>
      </p:sp>
      <p:sp>
        <p:nvSpPr>
          <p:cNvPr id="23" name="Text 19"/>
          <p:cNvSpPr txBox="1"/>
          <p:nvPr/>
        </p:nvSpPr>
        <p:spPr>
          <a:xfrm>
            <a:off x="7909560" y="3886200"/>
            <a:ext cx="3730752" cy="2377440"/>
          </a:xfrm>
          <a:prstGeom prst="rect">
            <a:avLst/>
          </a:prstGeom>
          <a:noFill/>
          <a:ln/>
        </p:spPr>
        <p:txBody>
          <a:bodyPr wrap="square" lIns="0" tIns="0" rIns="0" bIns="0" rtlCol="0" anchor="t"/>
          <a:lstStyle/>
          <a:p>
            <a:pPr indent="0" marL="0">
              <a:buNone/>
            </a:pPr>
            <a:r>
              <a:rPr lang="en-US" sz="1400" dirty="0">
                <a:solidFill>
                  <a:schemeClr val="tx2"/>
                </a:solidFill>
              </a:rPr>
              <a:t>Both Deployments now run </a:t>
            </a:r>
            <a:pPr indent="0" marL="0">
              <a:buNone/>
            </a:pPr>
            <a:r>
              <a:rPr lang="en-US" sz="1400" b="1" dirty="0">
                <a:solidFill>
                  <a:schemeClr val="accent1"/>
                </a:solidFill>
              </a:rPr>
              <a:t>ghcr.io/kavyadhyani/…:3198bd6…</a:t>
            </a:r>
            <a:pPr indent="0" marL="0">
              <a:buNone/>
            </a:pPr>
            <a:r>
              <a:rPr lang="en-US" sz="1400" dirty="0">
                <a:solidFill>
                  <a:schemeClr val="tx2"/>
                </a:solidFill>
              </a:rPr>
              <a:t>, the image CI built for that commit.</a:t>
            </a:r>
            <a:endParaRPr lang="en-US" sz="1400" dirty="0"/>
          </a:p>
          <a:p>
            <a:pPr indent="0" marL="0">
              <a:buNone/>
            </a:pPr>
            <a:r>
              <a:rPr lang="en-US" sz="800" dirty="0">
                <a:solidFill>
                  <a:schemeClr val="tx2"/>
                </a:solidFill>
              </a:rPr>
              <a:t> </a:t>
            </a:r>
            <a:endParaRPr lang="en-US" sz="1400" dirty="0"/>
          </a:p>
          <a:p>
            <a:pPr indent="0" marL="0">
              <a:buNone/>
            </a:pPr>
            <a:r>
              <a:rPr lang="en-US" sz="1400" dirty="0">
                <a:solidFill>
                  <a:schemeClr val="tx2"/>
                </a:solidFill>
              </a:rPr>
              <a:t>maxUnavailable: 0 keeps the app up during the rollout; helm rollback returns to any earlier revision.</a:t>
            </a:r>
            <a:endParaRPr lang="en-US" sz="14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92608"/>
          </a:xfrm>
          <a:prstGeom prst="rect">
            <a:avLst/>
          </a:prstGeom>
          <a:noFill/>
          <a:ln/>
        </p:spPr>
        <p:txBody>
          <a:bodyPr wrap="square" lIns="0" tIns="0" rIns="0" bIns="0" rtlCol="0"/>
          <a:lstStyle/>
          <a:p>
            <a:pPr indent="0" marL="0">
              <a:buNone/>
            </a:pPr>
            <a:r>
              <a:rPr lang="en-US" sz="1200" b="1" spc="200" kern="0" dirty="0">
                <a:solidFill>
                  <a:schemeClr val="accent1"/>
                </a:solidFill>
              </a:rPr>
              <a:t>CHALLENGES</a:t>
            </a:r>
            <a:endParaRPr lang="en-US" sz="1200" dirty="0"/>
          </a:p>
        </p:txBody>
      </p:sp>
      <p:sp>
        <p:nvSpPr>
          <p:cNvPr id="3" name="Text 0"/>
          <p:cNvSpPr/>
          <p:nvPr>
            <p:ph idx="101" type="title" hasCustomPrompt="1"/>
          </p:nvPr>
        </p:nvSpPr>
        <p:spPr>
          <a:xfrm>
            <a:off x="548640" y="621792"/>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What broke, and what I learned</a:t>
            </a:r>
            <a:endParaRPr lang="en-US" sz="3400" dirty="0"/>
          </a:p>
        </p:txBody>
      </p:sp>
      <p:sp>
        <p:nvSpPr>
          <p:cNvPr id="4" name="lesson Vulnerable base images"/>
          <p:cNvSpPr/>
          <p:nvPr/>
        </p:nvSpPr>
        <p:spPr>
          <a:xfrm>
            <a:off x="548640" y="1691640"/>
            <a:ext cx="5449824" cy="1965960"/>
          </a:xfrm>
          <a:prstGeom prst="roundRect">
            <a:avLst>
              <a:gd name="adj" fmla="val 5581"/>
            </a:avLst>
          </a:prstGeom>
          <a:solidFill>
            <a:schemeClr val="bg2"/>
          </a:solidFill>
          <a:ln w="12700">
            <a:solidFill>
              <a:schemeClr val="bg2"/>
            </a:solidFill>
            <a:prstDash val="solid"/>
          </a:ln>
        </p:spPr>
      </p:sp>
      <p:sp>
        <p:nvSpPr>
          <p:cNvPr id="5" name="lesson icon bg Vulnerable base images"/>
          <p:cNvSpPr/>
          <p:nvPr/>
        </p:nvSpPr>
        <p:spPr>
          <a:xfrm>
            <a:off x="822960" y="1965960"/>
            <a:ext cx="566928" cy="566928"/>
          </a:xfrm>
          <a:prstGeom prst="ellipse">
            <a:avLst/>
          </a:prstGeom>
          <a:solidFill>
            <a:schemeClr val="accent2"/>
          </a:solidFill>
          <a:ln w="12700">
            <a:solidFill>
              <a:schemeClr val="accent2"/>
            </a:solidFill>
            <a:prstDash val="solid"/>
          </a:ln>
        </p:spPr>
      </p:sp>
      <p:pic>
        <p:nvPicPr>
          <p:cNvPr id="6" name="lesson icon Vulnerable base images" descr="preencoded.png">    </p:cNvPr>
          <p:cNvPicPr>
            <a:picLocks noChangeAspect="1"/>
          </p:cNvPicPr>
          <p:nvPr/>
        </p:nvPicPr>
        <p:blipFill>
          <a:blip r:embed="rId1"/>
          <a:stretch>
            <a:fillRect/>
          </a:stretch>
        </p:blipFill>
        <p:spPr>
          <a:xfrm>
            <a:off x="969264" y="2112264"/>
            <a:ext cx="274320" cy="274320"/>
          </a:xfrm>
          <a:prstGeom prst="rect">
            <a:avLst/>
          </a:prstGeom>
        </p:spPr>
      </p:pic>
      <p:sp>
        <p:nvSpPr>
          <p:cNvPr id="7" name="Text 4"/>
          <p:cNvSpPr txBox="1"/>
          <p:nvPr/>
        </p:nvSpPr>
        <p:spPr>
          <a:xfrm>
            <a:off x="1600200" y="1965960"/>
            <a:ext cx="4160520" cy="566928"/>
          </a:xfrm>
          <a:prstGeom prst="rect">
            <a:avLst/>
          </a:prstGeom>
          <a:noFill/>
          <a:ln/>
        </p:spPr>
        <p:txBody>
          <a:bodyPr wrap="square" lIns="0" tIns="0" rIns="0" bIns="0" rtlCol="0" anchor="ctr"/>
          <a:lstStyle/>
          <a:p>
            <a:pPr indent="0" marL="0">
              <a:buNone/>
            </a:pPr>
            <a:r>
              <a:rPr lang="en-US" sz="1800" b="1" dirty="0">
                <a:solidFill>
                  <a:schemeClr val="tx1"/>
                </a:solidFill>
              </a:rPr>
              <a:t>Vulnerable base images</a:t>
            </a:r>
            <a:endParaRPr lang="en-US" sz="1800" dirty="0"/>
          </a:p>
        </p:txBody>
      </p:sp>
      <p:sp>
        <p:nvSpPr>
          <p:cNvPr id="8" name="Text 5"/>
          <p:cNvSpPr txBox="1"/>
          <p:nvPr/>
        </p:nvSpPr>
        <p:spPr>
          <a:xfrm>
            <a:off x="822960" y="2679192"/>
            <a:ext cx="4937760" cy="868680"/>
          </a:xfrm>
          <a:prstGeom prst="rect">
            <a:avLst/>
          </a:prstGeom>
          <a:noFill/>
          <a:ln/>
        </p:spPr>
        <p:txBody>
          <a:bodyPr wrap="square" lIns="0" tIns="0" rIns="0" bIns="0" rtlCol="0" anchor="t"/>
          <a:lstStyle/>
          <a:p>
            <a:pPr indent="0" marL="0">
              <a:buNone/>
            </a:pPr>
            <a:r>
              <a:rPr lang="en-US" sz="1500" dirty="0">
                <a:solidFill>
                  <a:schemeClr val="tx2"/>
                </a:solidFill>
              </a:rPr>
              <a:t>Trivy found 43 HIGH CVEs in a fresh nginx image. Patching in the Dockerfile and removing unused tools brought both images to zero.</a:t>
            </a:r>
            <a:endParaRPr lang="en-US" sz="1500" dirty="0"/>
          </a:p>
        </p:txBody>
      </p:sp>
      <p:sp>
        <p:nvSpPr>
          <p:cNvPr id="9" name="lesson Two replicas, one migration"/>
          <p:cNvSpPr/>
          <p:nvPr/>
        </p:nvSpPr>
        <p:spPr>
          <a:xfrm>
            <a:off x="6190488" y="1691640"/>
            <a:ext cx="5449824" cy="1965960"/>
          </a:xfrm>
          <a:prstGeom prst="roundRect">
            <a:avLst>
              <a:gd name="adj" fmla="val 5581"/>
            </a:avLst>
          </a:prstGeom>
          <a:solidFill>
            <a:schemeClr val="bg2"/>
          </a:solidFill>
          <a:ln w="12700">
            <a:solidFill>
              <a:schemeClr val="bg2"/>
            </a:solidFill>
            <a:prstDash val="solid"/>
          </a:ln>
        </p:spPr>
      </p:sp>
      <p:sp>
        <p:nvSpPr>
          <p:cNvPr id="10" name="lesson icon bg Two replicas, one migration"/>
          <p:cNvSpPr/>
          <p:nvPr/>
        </p:nvSpPr>
        <p:spPr>
          <a:xfrm>
            <a:off x="6464808" y="1965960"/>
            <a:ext cx="566928" cy="566928"/>
          </a:xfrm>
          <a:prstGeom prst="ellipse">
            <a:avLst/>
          </a:prstGeom>
          <a:solidFill>
            <a:schemeClr val="accent1"/>
          </a:solidFill>
          <a:ln w="12700">
            <a:solidFill>
              <a:schemeClr val="accent1"/>
            </a:solidFill>
            <a:prstDash val="solid"/>
          </a:ln>
        </p:spPr>
      </p:sp>
      <p:pic>
        <p:nvPicPr>
          <p:cNvPr id="11" name="lesson icon Two replicas, one migration" descr="preencoded.png">    </p:cNvPr>
          <p:cNvPicPr>
            <a:picLocks noChangeAspect="1"/>
          </p:cNvPicPr>
          <p:nvPr/>
        </p:nvPicPr>
        <p:blipFill>
          <a:blip r:embed="rId2"/>
          <a:stretch>
            <a:fillRect/>
          </a:stretch>
        </p:blipFill>
        <p:spPr>
          <a:xfrm>
            <a:off x="6611112" y="2112264"/>
            <a:ext cx="274320" cy="274320"/>
          </a:xfrm>
          <a:prstGeom prst="rect">
            <a:avLst/>
          </a:prstGeom>
        </p:spPr>
      </p:pic>
      <p:sp>
        <p:nvSpPr>
          <p:cNvPr id="12" name="Text 8"/>
          <p:cNvSpPr txBox="1"/>
          <p:nvPr/>
        </p:nvSpPr>
        <p:spPr>
          <a:xfrm>
            <a:off x="7242048" y="1965960"/>
            <a:ext cx="4160520" cy="566928"/>
          </a:xfrm>
          <a:prstGeom prst="rect">
            <a:avLst/>
          </a:prstGeom>
          <a:noFill/>
          <a:ln/>
        </p:spPr>
        <p:txBody>
          <a:bodyPr wrap="square" lIns="0" tIns="0" rIns="0" bIns="0" rtlCol="0" anchor="ctr"/>
          <a:lstStyle/>
          <a:p>
            <a:pPr indent="0" marL="0">
              <a:buNone/>
            </a:pPr>
            <a:r>
              <a:rPr lang="en-US" sz="1800" b="1" dirty="0">
                <a:solidFill>
                  <a:schemeClr val="tx1"/>
                </a:solidFill>
              </a:rPr>
              <a:t>Two replicas, one migration</a:t>
            </a:r>
            <a:endParaRPr lang="en-US" sz="1800" dirty="0"/>
          </a:p>
        </p:txBody>
      </p:sp>
      <p:sp>
        <p:nvSpPr>
          <p:cNvPr id="13" name="Text 9"/>
          <p:cNvSpPr txBox="1"/>
          <p:nvPr/>
        </p:nvSpPr>
        <p:spPr>
          <a:xfrm>
            <a:off x="6464808" y="2679192"/>
            <a:ext cx="4937760" cy="868680"/>
          </a:xfrm>
          <a:prstGeom prst="rect">
            <a:avLst/>
          </a:prstGeom>
          <a:noFill/>
          <a:ln/>
        </p:spPr>
        <p:txBody>
          <a:bodyPr wrap="square" lIns="0" tIns="0" rIns="0" bIns="0" rtlCol="0" anchor="t"/>
          <a:lstStyle/>
          <a:p>
            <a:pPr indent="0" marL="0">
              <a:buNone/>
            </a:pPr>
            <a:r>
              <a:rPr lang="en-US" sz="1500" dirty="0">
                <a:solidFill>
                  <a:schemeClr val="tx2"/>
                </a:solidFill>
              </a:rPr>
              <a:t>Both backend pods ran Alembic at startup and raced. A Postgres advisory lock lets only one migrate.</a:t>
            </a:r>
            <a:endParaRPr lang="en-US" sz="1500" dirty="0"/>
          </a:p>
        </p:txBody>
      </p:sp>
      <p:sp>
        <p:nvSpPr>
          <p:cNvPr id="14" name="lesson HPA that wouldn’t scale down"/>
          <p:cNvSpPr/>
          <p:nvPr/>
        </p:nvSpPr>
        <p:spPr>
          <a:xfrm>
            <a:off x="548640" y="3931920"/>
            <a:ext cx="5449824" cy="1965960"/>
          </a:xfrm>
          <a:prstGeom prst="roundRect">
            <a:avLst>
              <a:gd name="adj" fmla="val 5581"/>
            </a:avLst>
          </a:prstGeom>
          <a:solidFill>
            <a:schemeClr val="bg2"/>
          </a:solidFill>
          <a:ln w="12700">
            <a:solidFill>
              <a:schemeClr val="bg2"/>
            </a:solidFill>
            <a:prstDash val="solid"/>
          </a:ln>
        </p:spPr>
      </p:sp>
      <p:sp>
        <p:nvSpPr>
          <p:cNvPr id="15" name="lesson icon bg HPA that wouldn’t scale down"/>
          <p:cNvSpPr/>
          <p:nvPr/>
        </p:nvSpPr>
        <p:spPr>
          <a:xfrm>
            <a:off x="822960" y="4206240"/>
            <a:ext cx="566928" cy="566928"/>
          </a:xfrm>
          <a:prstGeom prst="ellipse">
            <a:avLst/>
          </a:prstGeom>
          <a:solidFill>
            <a:schemeClr val="accent4"/>
          </a:solidFill>
          <a:ln w="12700">
            <a:solidFill>
              <a:schemeClr val="accent4"/>
            </a:solidFill>
            <a:prstDash val="solid"/>
          </a:ln>
        </p:spPr>
      </p:sp>
      <p:pic>
        <p:nvPicPr>
          <p:cNvPr id="16" name="lesson icon HPA that wouldn’t scale down" descr="preencoded.png">    </p:cNvPr>
          <p:cNvPicPr>
            <a:picLocks noChangeAspect="1"/>
          </p:cNvPicPr>
          <p:nvPr/>
        </p:nvPicPr>
        <p:blipFill>
          <a:blip r:embed="rId3"/>
          <a:stretch>
            <a:fillRect/>
          </a:stretch>
        </p:blipFill>
        <p:spPr>
          <a:xfrm>
            <a:off x="969264" y="4352544"/>
            <a:ext cx="274320" cy="274320"/>
          </a:xfrm>
          <a:prstGeom prst="rect">
            <a:avLst/>
          </a:prstGeom>
        </p:spPr>
      </p:pic>
      <p:sp>
        <p:nvSpPr>
          <p:cNvPr id="17" name="Text 12"/>
          <p:cNvSpPr txBox="1"/>
          <p:nvPr/>
        </p:nvSpPr>
        <p:spPr>
          <a:xfrm>
            <a:off x="1600200" y="4206240"/>
            <a:ext cx="4160520" cy="566928"/>
          </a:xfrm>
          <a:prstGeom prst="rect">
            <a:avLst/>
          </a:prstGeom>
          <a:noFill/>
          <a:ln/>
        </p:spPr>
        <p:txBody>
          <a:bodyPr wrap="square" lIns="0" tIns="0" rIns="0" bIns="0" rtlCol="0" anchor="ctr"/>
          <a:lstStyle/>
          <a:p>
            <a:pPr indent="0" marL="0">
              <a:buNone/>
            </a:pPr>
            <a:r>
              <a:rPr lang="en-US" sz="1800" b="1" dirty="0">
                <a:solidFill>
                  <a:schemeClr val="tx1"/>
                </a:solidFill>
              </a:rPr>
              <a:t>HPA that wouldn’t scale down</a:t>
            </a:r>
            <a:endParaRPr lang="en-US" sz="1800" dirty="0"/>
          </a:p>
        </p:txBody>
      </p:sp>
      <p:sp>
        <p:nvSpPr>
          <p:cNvPr id="18" name="Text 13"/>
          <p:cNvSpPr txBox="1"/>
          <p:nvPr/>
        </p:nvSpPr>
        <p:spPr>
          <a:xfrm>
            <a:off x="822960" y="4919472"/>
            <a:ext cx="4937760" cy="868680"/>
          </a:xfrm>
          <a:prstGeom prst="rect">
            <a:avLst/>
          </a:prstGeom>
          <a:noFill/>
          <a:ln/>
        </p:spPr>
        <p:txBody>
          <a:bodyPr wrap="square" lIns="0" tIns="0" rIns="0" bIns="0" rtlCol="0" anchor="t"/>
          <a:lstStyle/>
          <a:p>
            <a:pPr indent="0" marL="0">
              <a:buNone/>
            </a:pPr>
            <a:r>
              <a:rPr lang="en-US" sz="1500" dirty="0">
                <a:solidFill>
                  <a:schemeClr val="tx2"/>
                </a:solidFill>
              </a:rPr>
              <a:t>At 52% CPU it kept 4 pods: the replica formula still rounds to 4, and scale-down waits 5 minutes by design.</a:t>
            </a:r>
            <a:endParaRPr lang="en-US" sz="1500" dirty="0"/>
          </a:p>
        </p:txBody>
      </p:sp>
      <p:sp>
        <p:nvSpPr>
          <p:cNvPr id="19" name="lesson Infrastructure without an AWS bill"/>
          <p:cNvSpPr/>
          <p:nvPr/>
        </p:nvSpPr>
        <p:spPr>
          <a:xfrm>
            <a:off x="6190488" y="3931920"/>
            <a:ext cx="5449824" cy="1965960"/>
          </a:xfrm>
          <a:prstGeom prst="roundRect">
            <a:avLst>
              <a:gd name="adj" fmla="val 5581"/>
            </a:avLst>
          </a:prstGeom>
          <a:solidFill>
            <a:schemeClr val="bg2"/>
          </a:solidFill>
          <a:ln w="12700">
            <a:solidFill>
              <a:schemeClr val="bg2"/>
            </a:solidFill>
            <a:prstDash val="solid"/>
          </a:ln>
        </p:spPr>
      </p:sp>
      <p:sp>
        <p:nvSpPr>
          <p:cNvPr id="20" name="lesson icon bg Infrastructure without an AWS bill"/>
          <p:cNvSpPr/>
          <p:nvPr/>
        </p:nvSpPr>
        <p:spPr>
          <a:xfrm>
            <a:off x="6464808" y="4206240"/>
            <a:ext cx="566928" cy="566928"/>
          </a:xfrm>
          <a:prstGeom prst="ellipse">
            <a:avLst/>
          </a:prstGeom>
          <a:solidFill>
            <a:schemeClr val="accent3"/>
          </a:solidFill>
          <a:ln w="12700">
            <a:solidFill>
              <a:schemeClr val="accent3"/>
            </a:solidFill>
            <a:prstDash val="solid"/>
          </a:ln>
        </p:spPr>
      </p:sp>
      <p:pic>
        <p:nvPicPr>
          <p:cNvPr id="21" name="lesson icon Infrastructure without an AWS bill" descr="preencoded.png">    </p:cNvPr>
          <p:cNvPicPr>
            <a:picLocks noChangeAspect="1"/>
          </p:cNvPicPr>
          <p:nvPr/>
        </p:nvPicPr>
        <p:blipFill>
          <a:blip r:embed="rId4"/>
          <a:stretch>
            <a:fillRect/>
          </a:stretch>
        </p:blipFill>
        <p:spPr>
          <a:xfrm>
            <a:off x="6611112" y="4352544"/>
            <a:ext cx="274320" cy="274320"/>
          </a:xfrm>
          <a:prstGeom prst="rect">
            <a:avLst/>
          </a:prstGeom>
        </p:spPr>
      </p:pic>
      <p:sp>
        <p:nvSpPr>
          <p:cNvPr id="22" name="Text 16"/>
          <p:cNvSpPr txBox="1"/>
          <p:nvPr/>
        </p:nvSpPr>
        <p:spPr>
          <a:xfrm>
            <a:off x="7242048" y="4206240"/>
            <a:ext cx="4160520" cy="566928"/>
          </a:xfrm>
          <a:prstGeom prst="rect">
            <a:avLst/>
          </a:prstGeom>
          <a:noFill/>
          <a:ln/>
        </p:spPr>
        <p:txBody>
          <a:bodyPr wrap="square" lIns="0" tIns="0" rIns="0" bIns="0" rtlCol="0" anchor="ctr"/>
          <a:lstStyle/>
          <a:p>
            <a:pPr indent="0" marL="0">
              <a:buNone/>
            </a:pPr>
            <a:r>
              <a:rPr lang="en-US" sz="1800" b="1" dirty="0">
                <a:solidFill>
                  <a:schemeClr val="tx1"/>
                </a:solidFill>
              </a:rPr>
              <a:t>Infrastructure without an AWS bill</a:t>
            </a:r>
            <a:endParaRPr lang="en-US" sz="1800" dirty="0"/>
          </a:p>
        </p:txBody>
      </p:sp>
      <p:sp>
        <p:nvSpPr>
          <p:cNvPr id="23" name="Text 17"/>
          <p:cNvSpPr txBox="1"/>
          <p:nvPr/>
        </p:nvSpPr>
        <p:spPr>
          <a:xfrm>
            <a:off x="6464808" y="4919472"/>
            <a:ext cx="4937760" cy="868680"/>
          </a:xfrm>
          <a:prstGeom prst="rect">
            <a:avLst/>
          </a:prstGeom>
          <a:noFill/>
          <a:ln/>
        </p:spPr>
        <p:txBody>
          <a:bodyPr wrap="square" lIns="0" tIns="0" rIns="0" bIns="0" rtlCol="0" anchor="t"/>
          <a:lstStyle/>
          <a:p>
            <a:pPr indent="0" marL="0">
              <a:buNone/>
            </a:pPr>
            <a:r>
              <a:rPr lang="en-US" sz="1500" dirty="0">
                <a:solidFill>
                  <a:schemeClr val="tx2"/>
                </a:solidFill>
              </a:rPr>
              <a:t>An offline_plan variable lets terraform plan run with dummy keys, and CI deploys only when a cluster secret exists.</a:t>
            </a:r>
            <a:endParaRPr lang="en-US" sz="1500" dirty="0"/>
          </a:p>
        </p:txBody>
      </p:sp>
      <p:sp>
        <p:nvSpPr>
          <p:cNvPr id="25" name="Slide Number Placeholder 0"/>
          <p:cNvSpPr>
            <a:spLocks noGrp="1"/>
          </p:cNvSpPr>
          <p:nvPr>
            <p:ph type="sldNum" sz="quarter" idx="4294967295"/>
          </p:nvPr>
        </p:nvSpPr>
        <p:spPr>
          <a:xfrm>
            <a:off x="11183112" y="647395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hank you"/>
          <p:cNvSpPr txBox="1"/>
          <p:nvPr/>
        </p:nvSpPr>
        <p:spPr>
          <a:xfrm>
            <a:off x="548640" y="2331720"/>
            <a:ext cx="11091672" cy="2194560"/>
          </a:xfrm>
          <a:prstGeom prst="rect">
            <a:avLst/>
          </a:prstGeom>
          <a:noFill/>
          <a:ln/>
        </p:spPr>
        <p:txBody>
          <a:bodyPr wrap="square" lIns="0" tIns="0" rIns="0" bIns="0" rtlCol="0" anchor="ctr"/>
          <a:lstStyle/>
          <a:p>
            <a:pPr algn="ctr" indent="0" marL="0">
              <a:buNone/>
            </a:pPr>
            <a:r>
              <a:rPr lang="en-US" sz="12000" b="1" dirty="0">
                <a:solidFill>
                  <a:schemeClr val="bg1"/>
                </a:solidFill>
                <a:latin typeface="Arial" pitchFamily="34" charset="0"/>
                <a:ea typeface="Arial" pitchFamily="34" charset="-122"/>
                <a:cs typeface="Arial" pitchFamily="34" charset="-120"/>
              </a:rPr>
              <a:t>Thank you</a:t>
            </a:r>
            <a:endParaRPr lang="en-US" sz="12000" dirty="0"/>
          </a:p>
        </p:txBody>
      </p:sp>
    </p:spTree>
  </p:cSld>
  <p:clrMapOvr>
    <a:masterClrMapping/>
  </p:clrMapOvr>
</p:sld>
</file>

<file path=ppt/theme/theme1.xml><?xml version="1.0" encoding="utf-8"?>
<a:theme xmlns:a="http://schemas.openxmlformats.org/drawingml/2006/main" name="DataDrift">
  <a:themeElements>
    <a:clrScheme name="DataDrift">
      <a:dk1>
        <a:srgbClr val="1E1B4B"/>
      </a:dk1>
      <a:lt1>
        <a:srgbClr val="FFFFFF"/>
      </a:lt1>
      <a:dk2>
        <a:srgbClr val="334155"/>
      </a:dk2>
      <a:lt2>
        <a:srgbClr val="EEF2FF"/>
      </a:lt2>
      <a:accent1>
        <a:srgbClr val="4F46E5"/>
      </a:accent1>
      <a:accent2>
        <a:srgbClr val="E11D48"/>
      </a:accent2>
      <a:accent3>
        <a:srgbClr val="059669"/>
      </a:accent3>
      <a:accent4>
        <a:srgbClr val="D97706"/>
      </a:accent4>
      <a:accent5>
        <a:srgbClr val="A5B4FC"/>
      </a:accent5>
      <a:accent6>
        <a:srgbClr val="64748B"/>
      </a:accent6>
      <a:hlink>
        <a:srgbClr val="4F46E5"/>
      </a:hlink>
      <a:folHlink>
        <a:srgbClr val="6D28D9"/>
      </a:folHlink>
    </a:clrScheme>
    <a:fontScheme name="DataDrif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DataDrift — DevOps Capstone</dc:title>
  <dc:subject>PptxGenJS Presentation</dc:subject>
  <dc:creator>Kavya Dhyani</dc:creator>
  <cp:lastModifiedBy>Kavya Dhyani</cp:lastModifiedBy>
  <cp:revision>1</cp:revision>
  <dcterms:created xsi:type="dcterms:W3CDTF">2026-10-14T11:47:00Z</dcterms:created>
  <dcterms:modified xsi:type="dcterms:W3CDTF">2026-10-14T11:47:00Z</dcterms:modified>
</cp:coreProperties>
</file>